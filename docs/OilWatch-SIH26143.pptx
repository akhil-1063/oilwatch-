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problem statement (SIH26143). One line pitch: OilWatch takes a satellite spill detection, works out where it came from, and ranks the vessels that were nearby, showing the evidence behind every score. The screenshot is the real working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oil at sea harms marine life, habitats, the food chain and fishing livelihoods. Idea: connect three things investigators currently handle separately: satellite detection, drift modelling and AIS vessel history. Innovation: SAR fusion to cut false alarms, reverse drift to find the probable source, and an explainable score instead of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seven stages. In production the detection step uses YOLO or U-Net on Sentinel-1 SAR, the drift step uses Copernicus Marine and ERA5 data, and AIS comes from an AIS provider. In our prototype each stage is a service interface backed by deterministic sample data, so the real models can replace them without touching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everything relies on open or commercially available data and standard tooling. Risks are real, so we designed around them: false alarms are handled by SAR and EO fusion, AIS gaps show up in the continuity score, drift uncertainty is shown as a zone, and the score is explicitly investigation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is felt by the authorities who investigate, and by the communities who live off clean water. The numbers in the navy panel come from our prototype's demo case and use synthetic data, so they show how the workflow narrows a problem down, not real-world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are the EMSA and IMO pages on oil pollution response and satellite spill detection. The QR codes open the live prototype and the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msa.europa.eu/protecting-the-marine-environment/oil-pullution-response.html" TargetMode="External"/><Relationship Id="rId3" Type="http://schemas.openxmlformats.org/officeDocument/2006/relationships/hyperlink" Target="https://www.emsa.europa.eu/we-do/surveillance/earthobservationservices/item/4645-cleanseanet-detections-and-feedback-data.html" TargetMode="External"/><Relationship Id="rId4" Type="http://schemas.openxmlformats.org/officeDocument/2006/relationships/hyperlink" Target="https://www.imo.org/en/ourwork/environment/pages/pollution-response.aspx" TargetMode="External"/><Relationship Id="rId5" Type="http://schemas.openxmlformats.org/officeDocument/2006/relationships/hyperlink" Target="https://www.imo.org/en/ourwork/environment/pages/oil-spill-response.aspx" TargetMode="External"/><Relationship Id="rId1"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548640" y="457200"/>
            <a:ext cx="2331720" cy="1097280"/>
          </a:xfrm>
          <a:prstGeom prst="rect">
            <a:avLst/>
          </a:prstGeom>
          <a:solidFill>
            <a:srgbClr val="FFFFFF"/>
          </a:solidFill>
          <a:ln w="12700">
            <a:solidFill>
              <a:srgbClr val="FFFFFF"/>
            </a:solidFill>
            <a:prstDash val="solid"/>
          </a:ln>
        </p:spPr>
      </p:sp>
      <p:pic>
        <p:nvPicPr>
          <p:cNvPr id="3" name="Image 0" descr="C:/Users/akile/AppData/Local/Temp/claude/c--Users-akile-OneDrive-Desktop-Backend-Engineering-New-folder/8920ce60-01cf-4ad7-8231-4512026fc533/scratchpad/deck/orig/ppt/media/image4.png">    </p:cNvPr>
          <p:cNvPicPr>
            <a:picLocks noChangeAspect="1"/>
          </p:cNvPicPr>
          <p:nvPr/>
        </p:nvPicPr>
        <p:blipFill>
          <a:blip r:embed="rId1"/>
          <a:stretch>
            <a:fillRect/>
          </a:stretch>
        </p:blipFill>
        <p:spPr>
          <a:xfrm>
            <a:off x="685800" y="548640"/>
            <a:ext cx="2057400" cy="971901"/>
          </a:xfrm>
          <a:prstGeom prst="rect">
            <a:avLst/>
          </a:prstGeom>
        </p:spPr>
      </p:pic>
      <p:sp>
        <p:nvSpPr>
          <p:cNvPr id="4" name="Text 1"/>
          <p:cNvSpPr txBox="1"/>
          <p:nvPr/>
        </p:nvSpPr>
        <p:spPr>
          <a:xfrm>
            <a:off x="548640" y="1874520"/>
            <a:ext cx="5669280" cy="8686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OilWatch</a:t>
            </a:r>
            <a:endParaRPr lang="en-US" sz="5600" dirty="0"/>
          </a:p>
        </p:txBody>
      </p:sp>
      <p:sp>
        <p:nvSpPr>
          <p:cNvPr id="5" name="Text 2"/>
          <p:cNvSpPr txBox="1"/>
          <p:nvPr/>
        </p:nvSpPr>
        <p:spPr>
          <a:xfrm>
            <a:off x="548640" y="2743200"/>
            <a:ext cx="5669280" cy="457200"/>
          </a:xfrm>
          <a:prstGeom prst="rect">
            <a:avLst/>
          </a:prstGeom>
          <a:noFill/>
          <a:ln/>
        </p:spPr>
        <p:txBody>
          <a:bodyPr wrap="square" lIns="0" tIns="0" rIns="0" bIns="0" rtlCol="0" anchor="ctr"/>
          <a:lstStyle/>
          <a:p>
            <a:pPr indent="0" marL="0">
              <a:buNone/>
            </a:pPr>
            <a:r>
              <a:rPr lang="en-US" sz="2400" dirty="0">
                <a:solidFill>
                  <a:srgbClr val="2DD4BF"/>
                </a:solidFill>
                <a:latin typeface="Cambria" pitchFamily="34" charset="0"/>
                <a:ea typeface="Cambria" pitchFamily="34" charset="-122"/>
                <a:cs typeface="Cambria" pitchFamily="34" charset="-120"/>
              </a:rPr>
              <a:t>AI-Based Oil Spill &amp; Vessel Detection</a:t>
            </a:r>
            <a:endParaRPr lang="en-US" sz="2400" dirty="0"/>
          </a:p>
        </p:txBody>
      </p:sp>
      <p:sp>
        <p:nvSpPr>
          <p:cNvPr id="6" name="Text 3"/>
          <p:cNvSpPr txBox="1"/>
          <p:nvPr/>
        </p:nvSpPr>
        <p:spPr>
          <a:xfrm>
            <a:off x="548640" y="3337560"/>
            <a:ext cx="5303520" cy="731520"/>
          </a:xfrm>
          <a:prstGeom prst="rect">
            <a:avLst/>
          </a:prstGeom>
          <a:noFill/>
          <a:ln/>
        </p:spPr>
        <p:txBody>
          <a:bodyPr wrap="square" lIns="0" tIns="0" rIns="0" bIns="0" rtlCol="0" anchor="t"/>
          <a:lstStyle/>
          <a:p>
            <a:pPr indent="0" marL="0">
              <a:buNone/>
            </a:pPr>
            <a:r>
              <a:rPr lang="en-US" sz="1600" dirty="0">
                <a:solidFill>
                  <a:srgbClr val="C7D3DE"/>
                </a:solidFill>
                <a:latin typeface="Calibri" pitchFamily="34" charset="0"/>
                <a:ea typeface="Calibri" pitchFamily="34" charset="-122"/>
                <a:cs typeface="Calibri" pitchFamily="34" charset="-120"/>
              </a:rPr>
              <a:t>From a satellite image to a ranked shortlist of vessels worth investigating, with the evidence shown.</a:t>
            </a:r>
            <a:endParaRPr lang="en-US" sz="1600" dirty="0"/>
          </a:p>
        </p:txBody>
      </p:sp>
      <p:sp>
        <p:nvSpPr>
          <p:cNvPr id="7" name="Text 4"/>
          <p:cNvSpPr txBox="1"/>
          <p:nvPr/>
        </p:nvSpPr>
        <p:spPr>
          <a:xfrm>
            <a:off x="548640" y="4343400"/>
            <a:ext cx="2103120" cy="310896"/>
          </a:xfrm>
          <a:prstGeom prst="rect">
            <a:avLst/>
          </a:prstGeom>
          <a:noFill/>
          <a:ln/>
        </p:spPr>
        <p:txBody>
          <a:bodyPr wrap="square" lIns="0" tIns="0" rIns="0" bIns="0" rtlCol="0" anchor="ctr"/>
          <a:lstStyle/>
          <a:p>
            <a:pPr indent="0" marL="0">
              <a:buNone/>
            </a:pPr>
            <a:r>
              <a:rPr lang="en-US" sz="1300" dirty="0">
                <a:solidFill>
                  <a:srgbClr val="C7D3DE"/>
                </a:solidFill>
                <a:latin typeface="Calibri" pitchFamily="34" charset="0"/>
                <a:ea typeface="Calibri" pitchFamily="34" charset="-122"/>
                <a:cs typeface="Calibri" pitchFamily="34" charset="-120"/>
              </a:rPr>
              <a:t>Problem Statement ID</a:t>
            </a:r>
            <a:endParaRPr lang="en-US" sz="1300" dirty="0"/>
          </a:p>
        </p:txBody>
      </p:sp>
      <p:sp>
        <p:nvSpPr>
          <p:cNvPr id="8" name="Text 5"/>
          <p:cNvSpPr txBox="1"/>
          <p:nvPr/>
        </p:nvSpPr>
        <p:spPr>
          <a:xfrm>
            <a:off x="2651760" y="4343400"/>
            <a:ext cx="3200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SIH26143</a:t>
            </a:r>
            <a:endParaRPr lang="en-US" sz="1400" dirty="0"/>
          </a:p>
        </p:txBody>
      </p:sp>
      <p:sp>
        <p:nvSpPr>
          <p:cNvPr id="9" name="Text 6"/>
          <p:cNvSpPr txBox="1"/>
          <p:nvPr/>
        </p:nvSpPr>
        <p:spPr>
          <a:xfrm>
            <a:off x="548640" y="4709160"/>
            <a:ext cx="2103120" cy="310896"/>
          </a:xfrm>
          <a:prstGeom prst="rect">
            <a:avLst/>
          </a:prstGeom>
          <a:noFill/>
          <a:ln/>
        </p:spPr>
        <p:txBody>
          <a:bodyPr wrap="square" lIns="0" tIns="0" rIns="0" bIns="0" rtlCol="0" anchor="ctr"/>
          <a:lstStyle/>
          <a:p>
            <a:pPr indent="0" marL="0">
              <a:buNone/>
            </a:pPr>
            <a:r>
              <a:rPr lang="en-US" sz="1300" dirty="0">
                <a:solidFill>
                  <a:srgbClr val="C7D3DE"/>
                </a:solidFill>
                <a:latin typeface="Calibri" pitchFamily="34" charset="0"/>
                <a:ea typeface="Calibri" pitchFamily="34" charset="-122"/>
                <a:cs typeface="Calibri" pitchFamily="34" charset="-120"/>
              </a:rPr>
              <a:t>Theme</a:t>
            </a:r>
            <a:endParaRPr lang="en-US" sz="1300" dirty="0"/>
          </a:p>
        </p:txBody>
      </p:sp>
      <p:sp>
        <p:nvSpPr>
          <p:cNvPr id="10" name="Text 7"/>
          <p:cNvSpPr txBox="1"/>
          <p:nvPr/>
        </p:nvSpPr>
        <p:spPr>
          <a:xfrm>
            <a:off x="2651760" y="4709160"/>
            <a:ext cx="3200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Miscellaneous</a:t>
            </a:r>
            <a:endParaRPr lang="en-US" sz="1400" dirty="0"/>
          </a:p>
        </p:txBody>
      </p:sp>
      <p:sp>
        <p:nvSpPr>
          <p:cNvPr id="11" name="Text 8"/>
          <p:cNvSpPr txBox="1"/>
          <p:nvPr/>
        </p:nvSpPr>
        <p:spPr>
          <a:xfrm>
            <a:off x="548640" y="5074920"/>
            <a:ext cx="2103120" cy="310896"/>
          </a:xfrm>
          <a:prstGeom prst="rect">
            <a:avLst/>
          </a:prstGeom>
          <a:noFill/>
          <a:ln/>
        </p:spPr>
        <p:txBody>
          <a:bodyPr wrap="square" lIns="0" tIns="0" rIns="0" bIns="0" rtlCol="0" anchor="ctr"/>
          <a:lstStyle/>
          <a:p>
            <a:pPr indent="0" marL="0">
              <a:buNone/>
            </a:pPr>
            <a:r>
              <a:rPr lang="en-US" sz="1300" dirty="0">
                <a:solidFill>
                  <a:srgbClr val="C7D3DE"/>
                </a:solidFill>
                <a:latin typeface="Calibri" pitchFamily="34" charset="0"/>
                <a:ea typeface="Calibri" pitchFamily="34" charset="-122"/>
                <a:cs typeface="Calibri" pitchFamily="34" charset="-120"/>
              </a:rPr>
              <a:t>PS Category</a:t>
            </a:r>
            <a:endParaRPr lang="en-US" sz="1300" dirty="0"/>
          </a:p>
        </p:txBody>
      </p:sp>
      <p:sp>
        <p:nvSpPr>
          <p:cNvPr id="12" name="Text 9"/>
          <p:cNvSpPr txBox="1"/>
          <p:nvPr/>
        </p:nvSpPr>
        <p:spPr>
          <a:xfrm>
            <a:off x="2651760" y="5074920"/>
            <a:ext cx="3200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Software</a:t>
            </a:r>
            <a:endParaRPr lang="en-US" sz="1400" dirty="0"/>
          </a:p>
        </p:txBody>
      </p:sp>
      <p:sp>
        <p:nvSpPr>
          <p:cNvPr id="13" name="Text 10"/>
          <p:cNvSpPr txBox="1"/>
          <p:nvPr/>
        </p:nvSpPr>
        <p:spPr>
          <a:xfrm>
            <a:off x="548640" y="5440680"/>
            <a:ext cx="2103120" cy="310896"/>
          </a:xfrm>
          <a:prstGeom prst="rect">
            <a:avLst/>
          </a:prstGeom>
          <a:noFill/>
          <a:ln/>
        </p:spPr>
        <p:txBody>
          <a:bodyPr wrap="square" lIns="0" tIns="0" rIns="0" bIns="0" rtlCol="0" anchor="ctr"/>
          <a:lstStyle/>
          <a:p>
            <a:pPr indent="0" marL="0">
              <a:buNone/>
            </a:pPr>
            <a:r>
              <a:rPr lang="en-US" sz="1300" dirty="0">
                <a:solidFill>
                  <a:srgbClr val="C7D3DE"/>
                </a:solidFill>
                <a:latin typeface="Calibri" pitchFamily="34" charset="0"/>
                <a:ea typeface="Calibri" pitchFamily="34" charset="-122"/>
                <a:cs typeface="Calibri" pitchFamily="34" charset="-120"/>
              </a:rPr>
              <a:t>Team Name</a:t>
            </a:r>
            <a:endParaRPr lang="en-US" sz="1300" dirty="0"/>
          </a:p>
        </p:txBody>
      </p:sp>
      <p:sp>
        <p:nvSpPr>
          <p:cNvPr id="14" name="Text 11"/>
          <p:cNvSpPr txBox="1"/>
          <p:nvPr/>
        </p:nvSpPr>
        <p:spPr>
          <a:xfrm>
            <a:off x="2651760" y="5440680"/>
            <a:ext cx="3200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Mindforgue</a:t>
            </a:r>
            <a:endParaRPr lang="en-US" sz="1400" dirty="0"/>
          </a:p>
        </p:txBody>
      </p:sp>
      <p:sp>
        <p:nvSpPr>
          <p:cNvPr id="15" name="Text 12"/>
          <p:cNvSpPr txBox="1"/>
          <p:nvPr/>
        </p:nvSpPr>
        <p:spPr>
          <a:xfrm>
            <a:off x="548640" y="5806440"/>
            <a:ext cx="2103120" cy="310896"/>
          </a:xfrm>
          <a:prstGeom prst="rect">
            <a:avLst/>
          </a:prstGeom>
          <a:noFill/>
          <a:ln/>
        </p:spPr>
        <p:txBody>
          <a:bodyPr wrap="square" lIns="0" tIns="0" rIns="0" bIns="0" rtlCol="0" anchor="ctr"/>
          <a:lstStyle/>
          <a:p>
            <a:pPr indent="0" marL="0">
              <a:buNone/>
            </a:pPr>
            <a:r>
              <a:rPr lang="en-US" sz="1300" dirty="0">
                <a:solidFill>
                  <a:srgbClr val="C7D3DE"/>
                </a:solidFill>
                <a:latin typeface="Calibri" pitchFamily="34" charset="0"/>
                <a:ea typeface="Calibri" pitchFamily="34" charset="-122"/>
                <a:cs typeface="Calibri" pitchFamily="34" charset="-120"/>
              </a:rPr>
              <a:t>Team ID</a:t>
            </a:r>
            <a:endParaRPr lang="en-US" sz="1300" dirty="0"/>
          </a:p>
        </p:txBody>
      </p:sp>
      <p:sp>
        <p:nvSpPr>
          <p:cNvPr id="16" name="Text 13"/>
          <p:cNvSpPr txBox="1"/>
          <p:nvPr/>
        </p:nvSpPr>
        <p:spPr>
          <a:xfrm>
            <a:off x="2651760" y="5806440"/>
            <a:ext cx="3200400"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____________</a:t>
            </a:r>
            <a:endParaRPr lang="en-US" sz="1400" dirty="0"/>
          </a:p>
        </p:txBody>
      </p:sp>
      <p:sp>
        <p:nvSpPr>
          <p:cNvPr id="17" name="Shape 14"/>
          <p:cNvSpPr/>
          <p:nvPr/>
        </p:nvSpPr>
        <p:spPr>
          <a:xfrm>
            <a:off x="6217920" y="2240280"/>
            <a:ext cx="5550408" cy="3170111"/>
          </a:xfrm>
          <a:prstGeom prst="rect">
            <a:avLst/>
          </a:prstGeom>
          <a:solidFill>
            <a:srgbClr val="1B3A57"/>
          </a:solidFill>
          <a:ln w="12700">
            <a:solidFill>
              <a:srgbClr val="1B3A57"/>
            </a:solidFill>
            <a:prstDash val="solid"/>
          </a:ln>
        </p:spPr>
      </p:sp>
      <p:pic>
        <p:nvPicPr>
          <p:cNvPr id="18" name="Image 1" descr="C:/Users/akile/AppData/Local/Temp/claude/c--Users-akile-OneDrive-Desktop-Backend-Engineering-New-folder/8920ce60-01cf-4ad7-8231-4512026fc533/scratchpad/deck/console.png">    </p:cNvPr>
          <p:cNvPicPr>
            <a:picLocks noChangeAspect="1"/>
          </p:cNvPicPr>
          <p:nvPr/>
        </p:nvPicPr>
        <p:blipFill>
          <a:blip r:embed="rId2"/>
          <a:stretch>
            <a:fillRect/>
          </a:stretch>
        </p:blipFill>
        <p:spPr>
          <a:xfrm>
            <a:off x="6272784" y="2295144"/>
            <a:ext cx="5440680" cy="3060383"/>
          </a:xfrm>
          <a:prstGeom prst="rect">
            <a:avLst/>
          </a:prstGeom>
        </p:spPr>
      </p:pic>
      <p:sp>
        <p:nvSpPr>
          <p:cNvPr id="19" name="Text 15"/>
          <p:cNvSpPr txBox="1"/>
          <p:nvPr/>
        </p:nvSpPr>
        <p:spPr>
          <a:xfrm>
            <a:off x="6272784" y="5538407"/>
            <a:ext cx="5440680" cy="274320"/>
          </a:xfrm>
          <a:prstGeom prst="rect">
            <a:avLst/>
          </a:prstGeom>
          <a:noFill/>
          <a:ln/>
        </p:spPr>
        <p:txBody>
          <a:bodyPr wrap="square" lIns="0" tIns="0" rIns="0" bIns="0" rtlCol="0" anchor="ctr"/>
          <a:lstStyle/>
          <a:p>
            <a:pPr indent="0" marL="0">
              <a:buNone/>
            </a:pPr>
            <a:r>
              <a:rPr lang="en-US" sz="1200" dirty="0">
                <a:solidFill>
                  <a:srgbClr val="C7D3DE"/>
                </a:solidFill>
                <a:latin typeface="Calibri" pitchFamily="34" charset="0"/>
                <a:ea typeface="Calibri" pitchFamily="34" charset="-122"/>
                <a:cs typeface="Calibri" pitchFamily="34" charset="-120"/>
              </a:rPr>
              <a:t>The working prototype: OilWatch Intelligence Console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778240" cy="685800"/>
          </a:xfrm>
          <a:prstGeom prst="rect">
            <a:avLst/>
          </a:prstGeom>
          <a:noFill/>
          <a:ln/>
        </p:spPr>
        <p:txBody>
          <a:bodyPr wrap="square" lIns="0" tIns="0" rIns="0" bIns="0" rtlCol="0" anchor="ctr"/>
          <a:lstStyle/>
          <a:p>
            <a:pPr indent="0" marL="0">
              <a:buNone/>
            </a:pPr>
            <a:r>
              <a:rPr lang="en-US" sz="3200" b="1" dirty="0">
                <a:solidFill>
                  <a:srgbClr val="0B1F33"/>
                </a:solidFill>
                <a:latin typeface="Cambria" pitchFamily="34" charset="0"/>
                <a:ea typeface="Cambria" pitchFamily="34" charset="-122"/>
                <a:cs typeface="Cambria" pitchFamily="34" charset="-120"/>
              </a:rPr>
              <a:t>Problem, Idea &amp; Solution</a:t>
            </a:r>
            <a:endParaRPr lang="en-US" sz="3200" dirty="0"/>
          </a:p>
        </p:txBody>
      </p:sp>
      <p:pic>
        <p:nvPicPr>
          <p:cNvPr id="3" name="Image 0" descr="C:/Users/akile/AppData/Local/Temp/claude/c--Users-akile-OneDrive-Desktop-Backend-Engineering-New-folder/8920ce60-01cf-4ad7-8231-4512026fc533/scratchpad/deck/orig/ppt/media/image4.png">    </p:cNvPr>
          <p:cNvPicPr>
            <a:picLocks noChangeAspect="1"/>
          </p:cNvPicPr>
          <p:nvPr/>
        </p:nvPicPr>
        <p:blipFill>
          <a:blip r:embed="rId1"/>
          <a:stretch>
            <a:fillRect/>
          </a:stretch>
        </p:blipFill>
        <p:spPr>
          <a:xfrm>
            <a:off x="10088575" y="274320"/>
            <a:ext cx="1554480" cy="734325"/>
          </a:xfrm>
          <a:prstGeom prst="rect">
            <a:avLst/>
          </a:prstGeom>
        </p:spPr>
      </p:pic>
      <p:sp>
        <p:nvSpPr>
          <p:cNvPr id="4" name="Shape 1"/>
          <p:cNvSpPr/>
          <p:nvPr/>
        </p:nvSpPr>
        <p:spPr>
          <a:xfrm>
            <a:off x="548640" y="1280160"/>
            <a:ext cx="3383280" cy="4937760"/>
          </a:xfrm>
          <a:prstGeom prst="rect">
            <a:avLst/>
          </a:prstGeom>
          <a:solidFill>
            <a:srgbClr val="EEF3F6"/>
          </a:solidFill>
          <a:ln w="12700">
            <a:solidFill>
              <a:srgbClr val="EEF3F6"/>
            </a:solidFill>
            <a:prstDash val="solid"/>
          </a:ln>
        </p:spPr>
      </p:sp>
      <p:sp>
        <p:nvSpPr>
          <p:cNvPr id="5" name="Text 2"/>
          <p:cNvSpPr txBox="1"/>
          <p:nvPr/>
        </p:nvSpPr>
        <p:spPr>
          <a:xfrm>
            <a:off x="822960" y="1536192"/>
            <a:ext cx="283464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YOUR PROBLEM</a:t>
            </a:r>
            <a:endParaRPr lang="en-US" sz="1200" dirty="0"/>
          </a:p>
        </p:txBody>
      </p:sp>
      <p:sp>
        <p:nvSpPr>
          <p:cNvPr id="6" name="Shape 3"/>
          <p:cNvSpPr/>
          <p:nvPr/>
        </p:nvSpPr>
        <p:spPr>
          <a:xfrm>
            <a:off x="822960" y="2057400"/>
            <a:ext cx="457200" cy="457200"/>
          </a:xfrm>
          <a:prstGeom prst="ellipse">
            <a:avLst/>
          </a:prstGeom>
          <a:solidFill>
            <a:srgbClr val="0F766E"/>
          </a:solidFill>
          <a:ln w="12700">
            <a:solidFill>
              <a:srgbClr val="0F766E"/>
            </a:solidFill>
            <a:prstDash val="solid"/>
          </a:ln>
        </p:spPr>
      </p:sp>
      <p:pic>
        <p:nvPicPr>
          <p:cNvPr id="7" name="Image 1" descr="preencoded.png">    </p:cNvPr>
          <p:cNvPicPr>
            <a:picLocks noChangeAspect="1"/>
          </p:cNvPicPr>
          <p:nvPr/>
        </p:nvPicPr>
        <p:blipFill>
          <a:blip r:embed="rId2"/>
          <a:stretch>
            <a:fillRect/>
          </a:stretch>
        </p:blipFill>
        <p:spPr>
          <a:xfrm>
            <a:off x="937260" y="2171700"/>
            <a:ext cx="228600" cy="228600"/>
          </a:xfrm>
          <a:prstGeom prst="rect">
            <a:avLst/>
          </a:prstGeom>
        </p:spPr>
      </p:pic>
      <p:sp>
        <p:nvSpPr>
          <p:cNvPr id="8" name="Text 4"/>
          <p:cNvSpPr txBox="1"/>
          <p:nvPr/>
        </p:nvSpPr>
        <p:spPr>
          <a:xfrm>
            <a:off x="1444752" y="2020824"/>
            <a:ext cx="2212848" cy="86868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Kills marine life</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Toxic exposure and heavy oil coating</a:t>
            </a:r>
            <a:endParaRPr lang="en-US" sz="1400" dirty="0"/>
          </a:p>
        </p:txBody>
      </p:sp>
      <p:sp>
        <p:nvSpPr>
          <p:cNvPr id="9" name="Shape 5"/>
          <p:cNvSpPr/>
          <p:nvPr/>
        </p:nvSpPr>
        <p:spPr>
          <a:xfrm>
            <a:off x="822960" y="3081528"/>
            <a:ext cx="457200" cy="457200"/>
          </a:xfrm>
          <a:prstGeom prst="ellipse">
            <a:avLst/>
          </a:prstGeom>
          <a:solidFill>
            <a:srgbClr val="0F766E"/>
          </a:solidFill>
          <a:ln w="12700">
            <a:solidFill>
              <a:srgbClr val="0F766E"/>
            </a:solidFill>
            <a:prstDash val="solid"/>
          </a:ln>
        </p:spPr>
      </p:sp>
      <p:pic>
        <p:nvPicPr>
          <p:cNvPr id="10" name="Image 2" descr="preencoded.png">    </p:cNvPr>
          <p:cNvPicPr>
            <a:picLocks noChangeAspect="1"/>
          </p:cNvPicPr>
          <p:nvPr/>
        </p:nvPicPr>
        <p:blipFill>
          <a:blip r:embed="rId3"/>
          <a:stretch>
            <a:fillRect/>
          </a:stretch>
        </p:blipFill>
        <p:spPr>
          <a:xfrm>
            <a:off x="937260" y="3195828"/>
            <a:ext cx="228600" cy="228600"/>
          </a:xfrm>
          <a:prstGeom prst="rect">
            <a:avLst/>
          </a:prstGeom>
        </p:spPr>
      </p:pic>
      <p:sp>
        <p:nvSpPr>
          <p:cNvPr id="11" name="Text 6"/>
          <p:cNvSpPr txBox="1"/>
          <p:nvPr/>
        </p:nvSpPr>
        <p:spPr>
          <a:xfrm>
            <a:off x="1444752" y="3044952"/>
            <a:ext cx="2212848" cy="86868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Damages habitats</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Mangroves, coral reefs and coastal ecosystems</a:t>
            </a:r>
            <a:endParaRPr lang="en-US" sz="1400" dirty="0"/>
          </a:p>
        </p:txBody>
      </p:sp>
      <p:sp>
        <p:nvSpPr>
          <p:cNvPr id="12" name="Shape 7"/>
          <p:cNvSpPr/>
          <p:nvPr/>
        </p:nvSpPr>
        <p:spPr>
          <a:xfrm>
            <a:off x="822960" y="4105656"/>
            <a:ext cx="457200" cy="457200"/>
          </a:xfrm>
          <a:prstGeom prst="ellipse">
            <a:avLst/>
          </a:prstGeom>
          <a:solidFill>
            <a:srgbClr val="0F766E"/>
          </a:solidFill>
          <a:ln w="12700">
            <a:solidFill>
              <a:srgbClr val="0F766E"/>
            </a:solidFill>
            <a:prstDash val="solid"/>
          </a:ln>
        </p:spPr>
      </p:sp>
      <p:pic>
        <p:nvPicPr>
          <p:cNvPr id="13" name="Image 3" descr="preencoded.png">    </p:cNvPr>
          <p:cNvPicPr>
            <a:picLocks noChangeAspect="1"/>
          </p:cNvPicPr>
          <p:nvPr/>
        </p:nvPicPr>
        <p:blipFill>
          <a:blip r:embed="rId4"/>
          <a:stretch>
            <a:fillRect/>
          </a:stretch>
        </p:blipFill>
        <p:spPr>
          <a:xfrm>
            <a:off x="937260" y="4219956"/>
            <a:ext cx="228600" cy="228600"/>
          </a:xfrm>
          <a:prstGeom prst="rect">
            <a:avLst/>
          </a:prstGeom>
        </p:spPr>
      </p:pic>
      <p:sp>
        <p:nvSpPr>
          <p:cNvPr id="14" name="Text 8"/>
          <p:cNvSpPr txBox="1"/>
          <p:nvPr/>
        </p:nvSpPr>
        <p:spPr>
          <a:xfrm>
            <a:off x="1444752" y="4069080"/>
            <a:ext cx="2212848" cy="86868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Poisons the food chain</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From plankton up to fish and larger animals</a:t>
            </a:r>
            <a:endParaRPr lang="en-US" sz="1400" dirty="0"/>
          </a:p>
        </p:txBody>
      </p:sp>
      <p:sp>
        <p:nvSpPr>
          <p:cNvPr id="15" name="Shape 9"/>
          <p:cNvSpPr/>
          <p:nvPr/>
        </p:nvSpPr>
        <p:spPr>
          <a:xfrm>
            <a:off x="822960" y="5129784"/>
            <a:ext cx="457200" cy="457200"/>
          </a:xfrm>
          <a:prstGeom prst="ellipse">
            <a:avLst/>
          </a:prstGeom>
          <a:solidFill>
            <a:srgbClr val="0F766E"/>
          </a:solidFill>
          <a:ln w="12700">
            <a:solidFill>
              <a:srgbClr val="0F766E"/>
            </a:solidFill>
            <a:prstDash val="solid"/>
          </a:ln>
        </p:spPr>
      </p:sp>
      <p:pic>
        <p:nvPicPr>
          <p:cNvPr id="16" name="Image 4" descr="preencoded.png">    </p:cNvPr>
          <p:cNvPicPr>
            <a:picLocks noChangeAspect="1"/>
          </p:cNvPicPr>
          <p:nvPr/>
        </p:nvPicPr>
        <p:blipFill>
          <a:blip r:embed="rId5"/>
          <a:stretch>
            <a:fillRect/>
          </a:stretch>
        </p:blipFill>
        <p:spPr>
          <a:xfrm>
            <a:off x="937260" y="5244084"/>
            <a:ext cx="228600" cy="228600"/>
          </a:xfrm>
          <a:prstGeom prst="rect">
            <a:avLst/>
          </a:prstGeom>
        </p:spPr>
      </p:pic>
      <p:sp>
        <p:nvSpPr>
          <p:cNvPr id="17" name="Text 10"/>
          <p:cNvSpPr txBox="1"/>
          <p:nvPr/>
        </p:nvSpPr>
        <p:spPr>
          <a:xfrm>
            <a:off x="1444752" y="5093208"/>
            <a:ext cx="2212848" cy="86868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Hits livelihoods</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Fishing waters become unsafe to use</a:t>
            </a:r>
            <a:endParaRPr lang="en-US" sz="1400" dirty="0"/>
          </a:p>
        </p:txBody>
      </p:sp>
      <p:sp>
        <p:nvSpPr>
          <p:cNvPr id="18" name="Shape 11"/>
          <p:cNvSpPr/>
          <p:nvPr/>
        </p:nvSpPr>
        <p:spPr>
          <a:xfrm>
            <a:off x="4206240" y="1280160"/>
            <a:ext cx="7436815" cy="1188720"/>
          </a:xfrm>
          <a:prstGeom prst="rect">
            <a:avLst/>
          </a:prstGeom>
          <a:solidFill>
            <a:srgbClr val="0B1F33"/>
          </a:solidFill>
          <a:ln w="12700">
            <a:solidFill>
              <a:srgbClr val="0B1F33"/>
            </a:solidFill>
            <a:prstDash val="solid"/>
          </a:ln>
        </p:spPr>
      </p:sp>
      <p:sp>
        <p:nvSpPr>
          <p:cNvPr id="19" name="Text 12"/>
          <p:cNvSpPr txBox="1"/>
          <p:nvPr/>
        </p:nvSpPr>
        <p:spPr>
          <a:xfrm>
            <a:off x="4526280" y="1417320"/>
            <a:ext cx="2743200" cy="256032"/>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OUR IDEA</a:t>
            </a:r>
            <a:endParaRPr lang="en-US" sz="1200" dirty="0"/>
          </a:p>
        </p:txBody>
      </p:sp>
      <p:sp>
        <p:nvSpPr>
          <p:cNvPr id="20" name="Text 13"/>
          <p:cNvSpPr txBox="1"/>
          <p:nvPr/>
        </p:nvSpPr>
        <p:spPr>
          <a:xfrm>
            <a:off x="4526280" y="1700784"/>
            <a:ext cx="6796735" cy="68580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One platform that spots an oil spill from satellite imagery, traces it back to its probable origin using ocean-current and wind data, and matches it against AIS vessel tracks to shortlist investigation candidates.</a:t>
            </a:r>
            <a:endParaRPr lang="en-US" sz="1500" dirty="0"/>
          </a:p>
        </p:txBody>
      </p:sp>
      <p:sp>
        <p:nvSpPr>
          <p:cNvPr id="21" name="Text 14"/>
          <p:cNvSpPr txBox="1"/>
          <p:nvPr/>
        </p:nvSpPr>
        <p:spPr>
          <a:xfrm>
            <a:off x="4206240" y="2743200"/>
            <a:ext cx="3535528"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PROPOSED SOLUTION</a:t>
            </a:r>
            <a:endParaRPr lang="en-US" sz="1200" dirty="0"/>
          </a:p>
        </p:txBody>
      </p:sp>
      <p:sp>
        <p:nvSpPr>
          <p:cNvPr id="22" name="Text 15"/>
          <p:cNvSpPr txBox="1"/>
          <p:nvPr/>
        </p:nvSpPr>
        <p:spPr>
          <a:xfrm>
            <a:off x="4206240" y="3108960"/>
            <a:ext cx="3535528" cy="3108960"/>
          </a:xfrm>
          <a:prstGeom prst="rect">
            <a:avLst/>
          </a:prstGeom>
          <a:noFill/>
          <a:ln/>
        </p:spPr>
        <p:txBody>
          <a:bodyPr wrap="square" lIns="0" tIns="0" rIns="0" bIns="0" rtlCol="0" anchor="t"/>
          <a:lstStyle/>
          <a:p>
            <a:pPr indent="0" marL="0">
              <a:spcAft>
                <a:spcPts val="1200"/>
              </a:spcAft>
              <a:buNone/>
            </a:pPr>
            <a:r>
              <a:rPr lang="en-US" sz="1500" b="1" dirty="0">
                <a:solidFill>
                  <a:srgbClr val="12283F"/>
                </a:solidFill>
                <a:latin typeface="Calibri" pitchFamily="34" charset="0"/>
                <a:ea typeface="Calibri" pitchFamily="34" charset="-122"/>
                <a:cs typeface="Calibri" pitchFamily="34" charset="-120"/>
              </a:rPr>
              <a:t>AI satellite analysis: </a:t>
            </a:r>
            <a:pPr indent="0" marL="0">
              <a:spcAft>
                <a:spcPts val="1200"/>
              </a:spcAft>
              <a:buNone/>
            </a:pPr>
            <a:r>
              <a:rPr lang="en-US" sz="1500" dirty="0">
                <a:solidFill>
                  <a:srgbClr val="556677"/>
                </a:solidFill>
                <a:latin typeface="Calibri" pitchFamily="34" charset="0"/>
                <a:ea typeface="Calibri" pitchFamily="34" charset="-122"/>
                <a:cs typeface="Calibri" pitchFamily="34" charset="-120"/>
              </a:rPr>
              <a:t>detects and maps oil slicks automatically</a:t>
            </a:r>
            <a:endParaRPr lang="en-US" sz="1500" dirty="0"/>
          </a:p>
          <a:p>
            <a:pPr indent="0" marL="0">
              <a:spcAft>
                <a:spcPts val="1200"/>
              </a:spcAft>
              <a:buNone/>
            </a:pPr>
            <a:r>
              <a:rPr lang="en-US" sz="1500" b="1" dirty="0">
                <a:solidFill>
                  <a:srgbClr val="12283F"/>
                </a:solidFill>
                <a:latin typeface="Calibri" pitchFamily="34" charset="0"/>
                <a:ea typeface="Calibri" pitchFamily="34" charset="-122"/>
                <a:cs typeface="Calibri" pitchFamily="34" charset="-120"/>
              </a:rPr>
              <a:t>Wind &amp; current modelling: </a:t>
            </a:r>
            <a:pPr indent="0" marL="0">
              <a:spcAft>
                <a:spcPts val="1200"/>
              </a:spcAft>
              <a:buNone/>
            </a:pPr>
            <a:r>
              <a:rPr lang="en-US" sz="1500" dirty="0">
                <a:solidFill>
                  <a:srgbClr val="556677"/>
                </a:solidFill>
                <a:latin typeface="Calibri" pitchFamily="34" charset="0"/>
                <a:ea typeface="Calibri" pitchFamily="34" charset="-122"/>
                <a:cs typeface="Calibri" pitchFamily="34" charset="-120"/>
              </a:rPr>
              <a:t>traces the spill to its probable origin and predicts its drift</a:t>
            </a:r>
            <a:endParaRPr lang="en-US" sz="1500" dirty="0"/>
          </a:p>
          <a:p>
            <a:pPr indent="0" marL="0">
              <a:spcAft>
                <a:spcPts val="1200"/>
              </a:spcAft>
              <a:buNone/>
            </a:pPr>
            <a:r>
              <a:rPr lang="en-US" sz="1500" b="1" dirty="0">
                <a:solidFill>
                  <a:srgbClr val="12283F"/>
                </a:solidFill>
                <a:latin typeface="Calibri" pitchFamily="34" charset="0"/>
                <a:ea typeface="Calibri" pitchFamily="34" charset="-122"/>
                <a:cs typeface="Calibri" pitchFamily="34" charset="-120"/>
              </a:rPr>
              <a:t>AIS correlation: </a:t>
            </a:r>
            <a:pPr indent="0" marL="0">
              <a:spcAft>
                <a:spcPts val="1200"/>
              </a:spcAft>
              <a:buNone/>
            </a:pPr>
            <a:r>
              <a:rPr lang="en-US" sz="1500" dirty="0">
                <a:solidFill>
                  <a:srgbClr val="556677"/>
                </a:solidFill>
                <a:latin typeface="Calibri" pitchFamily="34" charset="0"/>
                <a:ea typeface="Calibri" pitchFamily="34" charset="-122"/>
                <a:cs typeface="Calibri" pitchFamily="34" charset="-120"/>
              </a:rPr>
              <a:t>matches origin, time and track with nearby vessels</a:t>
            </a:r>
            <a:endParaRPr lang="en-US" sz="1500" dirty="0"/>
          </a:p>
          <a:p>
            <a:pPr indent="0" marL="0">
              <a:spcAft>
                <a:spcPts val="1200"/>
              </a:spcAft>
              <a:buNone/>
            </a:pPr>
            <a:r>
              <a:rPr lang="en-US" sz="1500" b="1" dirty="0">
                <a:solidFill>
                  <a:srgbClr val="12283F"/>
                </a:solidFill>
                <a:latin typeface="Calibri" pitchFamily="34" charset="0"/>
                <a:ea typeface="Calibri" pitchFamily="34" charset="-122"/>
                <a:cs typeface="Calibri" pitchFamily="34" charset="-120"/>
              </a:rPr>
              <a:t>Evidence-based ranking: </a:t>
            </a:r>
            <a:pPr indent="0" marL="0">
              <a:spcAft>
                <a:spcPts val="1200"/>
              </a:spcAft>
              <a:buNone/>
            </a:pPr>
            <a:r>
              <a:rPr lang="en-US" sz="1500" dirty="0">
                <a:solidFill>
                  <a:srgbClr val="556677"/>
                </a:solidFill>
                <a:latin typeface="Calibri" pitchFamily="34" charset="0"/>
                <a:ea typeface="Calibri" pitchFamily="34" charset="-122"/>
                <a:cs typeface="Calibri" pitchFamily="34" charset="-120"/>
              </a:rPr>
              <a:t>confidence scores investigators can inspect</a:t>
            </a:r>
            <a:endParaRPr lang="en-US" sz="1500" dirty="0"/>
          </a:p>
          <a:p>
            <a:pPr indent="0" marL="0">
              <a:spcAft>
                <a:spcPts val="1200"/>
              </a:spcAft>
              <a:buNone/>
            </a:pPr>
            <a:r>
              <a:rPr lang="en-US" sz="1500" b="1" dirty="0">
                <a:solidFill>
                  <a:srgbClr val="12283F"/>
                </a:solidFill>
                <a:latin typeface="Calibri" pitchFamily="34" charset="0"/>
                <a:ea typeface="Calibri" pitchFamily="34" charset="-122"/>
                <a:cs typeface="Calibri" pitchFamily="34" charset="-120"/>
              </a:rPr>
              <a:t>Unified GIS dashboard: </a:t>
            </a:r>
            <a:pPr indent="0" marL="0">
              <a:spcAft>
                <a:spcPts val="1200"/>
              </a:spcAft>
              <a:buNone/>
            </a:pPr>
            <a:r>
              <a:rPr lang="en-US" sz="1500" dirty="0">
                <a:solidFill>
                  <a:srgbClr val="556677"/>
                </a:solidFill>
                <a:latin typeface="Calibri" pitchFamily="34" charset="0"/>
                <a:ea typeface="Calibri" pitchFamily="34" charset="-122"/>
                <a:cs typeface="Calibri" pitchFamily="34" charset="-120"/>
              </a:rPr>
              <a:t>live view, monitoring and investigation reports</a:t>
            </a:r>
            <a:endParaRPr lang="en-US" sz="1500" dirty="0"/>
          </a:p>
        </p:txBody>
      </p:sp>
      <p:sp>
        <p:nvSpPr>
          <p:cNvPr id="23" name="Text 16"/>
          <p:cNvSpPr txBox="1"/>
          <p:nvPr/>
        </p:nvSpPr>
        <p:spPr>
          <a:xfrm>
            <a:off x="8107528" y="2743200"/>
            <a:ext cx="3535528" cy="274320"/>
          </a:xfrm>
          <a:prstGeom prst="rect">
            <a:avLst/>
          </a:prstGeom>
          <a:noFill/>
          <a:ln/>
        </p:spPr>
        <p:txBody>
          <a:bodyPr wrap="square" lIns="0" tIns="0" rIns="0" bIns="0" rtlCol="0" anchor="ctr"/>
          <a:lstStyle/>
          <a:p>
            <a:pPr indent="0" marL="0">
              <a:buNone/>
            </a:pPr>
            <a:r>
              <a:rPr lang="en-US" sz="1200" b="1" spc="200" kern="0" dirty="0">
                <a:solidFill>
                  <a:srgbClr val="D97706"/>
                </a:solidFill>
                <a:latin typeface="Calibri" pitchFamily="34" charset="0"/>
                <a:ea typeface="Calibri" pitchFamily="34" charset="-122"/>
                <a:cs typeface="Calibri" pitchFamily="34" charset="-120"/>
              </a:rPr>
              <a:t>INNOVATION &amp; UNIQUENESS</a:t>
            </a:r>
            <a:endParaRPr lang="en-US" sz="1200" dirty="0"/>
          </a:p>
        </p:txBody>
      </p:sp>
      <p:sp>
        <p:nvSpPr>
          <p:cNvPr id="24" name="Text 17"/>
          <p:cNvSpPr txBox="1"/>
          <p:nvPr/>
        </p:nvSpPr>
        <p:spPr>
          <a:xfrm>
            <a:off x="8107528" y="3108960"/>
            <a:ext cx="3535528" cy="3108960"/>
          </a:xfrm>
          <a:prstGeom prst="rect">
            <a:avLst/>
          </a:prstGeom>
          <a:noFill/>
          <a:ln/>
        </p:spPr>
        <p:txBody>
          <a:bodyPr wrap="square" lIns="0" tIns="0" rIns="0" bIns="0" rtlCol="0" anchor="t"/>
          <a:lstStyle/>
          <a:p>
            <a:pPr indent="0" marL="0">
              <a:spcAft>
                <a:spcPts val="1400"/>
              </a:spcAft>
              <a:buNone/>
            </a:pPr>
            <a:r>
              <a:rPr lang="en-US" sz="1500" b="1" dirty="0">
                <a:solidFill>
                  <a:srgbClr val="12283F"/>
                </a:solidFill>
                <a:latin typeface="Calibri" pitchFamily="34" charset="0"/>
                <a:ea typeface="Calibri" pitchFamily="34" charset="-122"/>
                <a:cs typeface="Calibri" pitchFamily="34" charset="-120"/>
              </a:rPr>
              <a:t>AI + SAR fusion: </a:t>
            </a:r>
            <a:pPr indent="0" marL="0">
              <a:spcAft>
                <a:spcPts val="1400"/>
              </a:spcAft>
              <a:buNone/>
            </a:pPr>
            <a:r>
              <a:rPr lang="en-US" sz="1500" dirty="0">
                <a:solidFill>
                  <a:srgbClr val="556677"/>
                </a:solidFill>
                <a:latin typeface="Calibri" pitchFamily="34" charset="0"/>
                <a:ea typeface="Calibri" pitchFamily="34" charset="-122"/>
                <a:cs typeface="Calibri" pitchFamily="34" charset="-120"/>
              </a:rPr>
              <a:t>spots slicks and cuts false alarms from sea-surface look-alikes</a:t>
            </a:r>
            <a:endParaRPr lang="en-US" sz="1500" dirty="0"/>
          </a:p>
          <a:p>
            <a:pPr indent="0" marL="0">
              <a:spcAft>
                <a:spcPts val="1400"/>
              </a:spcAft>
              <a:buNone/>
            </a:pPr>
            <a:r>
              <a:rPr lang="en-US" sz="1500" b="1" dirty="0">
                <a:solidFill>
                  <a:srgbClr val="12283F"/>
                </a:solidFill>
                <a:latin typeface="Calibri" pitchFamily="34" charset="0"/>
                <a:ea typeface="Calibri" pitchFamily="34" charset="-122"/>
                <a:cs typeface="Calibri" pitchFamily="34" charset="-120"/>
              </a:rPr>
              <a:t>Reverse drift intelligence: </a:t>
            </a:r>
            <a:pPr indent="0" marL="0">
              <a:spcAft>
                <a:spcPts val="1400"/>
              </a:spcAft>
              <a:buNone/>
            </a:pPr>
            <a:r>
              <a:rPr lang="en-US" sz="1500" dirty="0">
                <a:solidFill>
                  <a:srgbClr val="556677"/>
                </a:solidFill>
                <a:latin typeface="Calibri" pitchFamily="34" charset="0"/>
                <a:ea typeface="Calibri" pitchFamily="34" charset="-122"/>
                <a:cs typeface="Calibri" pitchFamily="34" charset="-120"/>
              </a:rPr>
              <a:t>wind and currents run backwards to the probable source location and time</a:t>
            </a:r>
            <a:endParaRPr lang="en-US" sz="1500" dirty="0"/>
          </a:p>
          <a:p>
            <a:pPr indent="0" marL="0">
              <a:spcAft>
                <a:spcPts val="1400"/>
              </a:spcAft>
              <a:buNone/>
            </a:pPr>
            <a:r>
              <a:rPr lang="en-US" sz="1500" b="1" dirty="0">
                <a:solidFill>
                  <a:srgbClr val="12283F"/>
                </a:solidFill>
                <a:latin typeface="Calibri" pitchFamily="34" charset="0"/>
                <a:ea typeface="Calibri" pitchFamily="34" charset="-122"/>
                <a:cs typeface="Calibri" pitchFamily="34" charset="-120"/>
              </a:rPr>
              <a:t>Evidence-linked AIS attribution: </a:t>
            </a:r>
            <a:pPr indent="0" marL="0">
              <a:spcAft>
                <a:spcPts val="1400"/>
              </a:spcAft>
              <a:buNone/>
            </a:pPr>
            <a:r>
              <a:rPr lang="en-US" sz="1500" dirty="0">
                <a:solidFill>
                  <a:srgbClr val="556677"/>
                </a:solidFill>
                <a:latin typeface="Calibri" pitchFamily="34" charset="0"/>
                <a:ea typeface="Calibri" pitchFamily="34" charset="-122"/>
                <a:cs typeface="Calibri" pitchFamily="34" charset="-120"/>
              </a:rPr>
              <a:t>an explainable score per vessel, built from where, when and how it moved</a:t>
            </a:r>
            <a:endParaRPr lang="en-US" sz="1500" dirty="0"/>
          </a:p>
        </p:txBody>
      </p:sp>
      <p:sp>
        <p:nvSpPr>
          <p:cNvPr id="25" name="Text 18"/>
          <p:cNvSpPr txBox="1"/>
          <p:nvPr/>
        </p:nvSpPr>
        <p:spPr>
          <a:xfrm>
            <a:off x="548640" y="6428232"/>
            <a:ext cx="7315200" cy="274320"/>
          </a:xfrm>
          <a:prstGeom prst="rect">
            <a:avLst/>
          </a:prstGeom>
          <a:noFill/>
          <a:ln/>
        </p:spPr>
        <p:txBody>
          <a:bodyPr wrap="square" lIns="0" tIns="0" rIns="0" bIns="0" rtlCol="0" anchor="ctr"/>
          <a:lstStyle/>
          <a:p>
            <a:pPr indent="0" marL="0">
              <a:buNone/>
            </a:pPr>
            <a:r>
              <a:rPr lang="en-US" sz="1050" dirty="0">
                <a:solidFill>
                  <a:srgbClr val="556677"/>
                </a:solidFill>
                <a:latin typeface="Calibri" pitchFamily="34" charset="0"/>
                <a:ea typeface="Calibri" pitchFamily="34" charset="-122"/>
                <a:cs typeface="Calibri" pitchFamily="34" charset="-120"/>
              </a:rPr>
              <a:t>SMART INDIA HACKATHON 2026   |   SIH26143   |   Team Mindforgue</a:t>
            </a:r>
            <a:endParaRPr lang="en-US" sz="1050" dirty="0"/>
          </a:p>
        </p:txBody>
      </p:sp>
      <p:sp>
        <p:nvSpPr>
          <p:cNvPr id="26" name="Text 19"/>
          <p:cNvSpPr txBox="1"/>
          <p:nvPr/>
        </p:nvSpPr>
        <p:spPr>
          <a:xfrm>
            <a:off x="11094415" y="6428232"/>
            <a:ext cx="548640" cy="274320"/>
          </a:xfrm>
          <a:prstGeom prst="rect">
            <a:avLst/>
          </a:prstGeom>
          <a:noFill/>
          <a:ln/>
        </p:spPr>
        <p:txBody>
          <a:bodyPr wrap="square" lIns="0" tIns="0" rIns="0" bIns="0" rtlCol="0" anchor="ctr"/>
          <a:lstStyle/>
          <a:p>
            <a:pPr algn="r" indent="0" marL="0">
              <a:buNone/>
            </a:pPr>
            <a:r>
              <a:rPr lang="en-US" sz="1050" dirty="0">
                <a:solidFill>
                  <a:srgbClr val="556677"/>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778240" cy="685800"/>
          </a:xfrm>
          <a:prstGeom prst="rect">
            <a:avLst/>
          </a:prstGeom>
          <a:noFill/>
          <a:ln/>
        </p:spPr>
        <p:txBody>
          <a:bodyPr wrap="square" lIns="0" tIns="0" rIns="0" bIns="0" rtlCol="0" anchor="ctr"/>
          <a:lstStyle/>
          <a:p>
            <a:pPr indent="0" marL="0">
              <a:buNone/>
            </a:pPr>
            <a:r>
              <a:rPr lang="en-US" sz="3200" b="1" dirty="0">
                <a:solidFill>
                  <a:srgbClr val="0B1F33"/>
                </a:solidFill>
                <a:latin typeface="Cambria" pitchFamily="34" charset="0"/>
                <a:ea typeface="Cambria" pitchFamily="34" charset="-122"/>
                <a:cs typeface="Cambria" pitchFamily="34" charset="-120"/>
              </a:rPr>
              <a:t>Technical Approach</a:t>
            </a:r>
            <a:endParaRPr lang="en-US" sz="3200" dirty="0"/>
          </a:p>
        </p:txBody>
      </p:sp>
      <p:pic>
        <p:nvPicPr>
          <p:cNvPr id="3" name="Image 0" descr="C:/Users/akile/AppData/Local/Temp/claude/c--Users-akile-OneDrive-Desktop-Backend-Engineering-New-folder/8920ce60-01cf-4ad7-8231-4512026fc533/scratchpad/deck/orig/ppt/media/image4.png">    </p:cNvPr>
          <p:cNvPicPr>
            <a:picLocks noChangeAspect="1"/>
          </p:cNvPicPr>
          <p:nvPr/>
        </p:nvPicPr>
        <p:blipFill>
          <a:blip r:embed="rId1"/>
          <a:stretch>
            <a:fillRect/>
          </a:stretch>
        </p:blipFill>
        <p:spPr>
          <a:xfrm>
            <a:off x="10088575" y="274320"/>
            <a:ext cx="1554480" cy="734325"/>
          </a:xfrm>
          <a:prstGeom prst="rect">
            <a:avLst/>
          </a:prstGeom>
        </p:spPr>
      </p:pic>
      <p:sp>
        <p:nvSpPr>
          <p:cNvPr id="4" name="Shape 1"/>
          <p:cNvSpPr/>
          <p:nvPr/>
        </p:nvSpPr>
        <p:spPr>
          <a:xfrm>
            <a:off x="1341098" y="1572768"/>
            <a:ext cx="9509499" cy="0"/>
          </a:xfrm>
          <a:prstGeom prst="line">
            <a:avLst/>
          </a:prstGeom>
          <a:noFill/>
          <a:ln w="25400">
            <a:solidFill>
              <a:srgbClr val="D3DDE5"/>
            </a:solidFill>
            <a:prstDash val="solid"/>
          </a:ln>
        </p:spPr>
      </p:sp>
      <p:sp>
        <p:nvSpPr>
          <p:cNvPr id="5" name="Shape 2"/>
          <p:cNvSpPr/>
          <p:nvPr/>
        </p:nvSpPr>
        <p:spPr>
          <a:xfrm>
            <a:off x="1075922" y="1307592"/>
            <a:ext cx="530352" cy="530352"/>
          </a:xfrm>
          <a:prstGeom prst="ellipse">
            <a:avLst/>
          </a:prstGeom>
          <a:solidFill>
            <a:srgbClr val="0F766E"/>
          </a:solidFill>
          <a:ln w="38100">
            <a:solidFill>
              <a:srgbClr val="FFFFFF"/>
            </a:solidFill>
            <a:prstDash val="solid"/>
          </a:ln>
        </p:spPr>
      </p:sp>
      <p:sp>
        <p:nvSpPr>
          <p:cNvPr id="6" name="Text 3"/>
          <p:cNvSpPr txBox="1"/>
          <p:nvPr/>
        </p:nvSpPr>
        <p:spPr>
          <a:xfrm>
            <a:off x="1075922" y="130759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594360" y="1956816"/>
            <a:ext cx="1493476" cy="292608"/>
          </a:xfrm>
          <a:prstGeom prst="rect">
            <a:avLst/>
          </a:prstGeom>
          <a:noFill/>
          <a:ln/>
        </p:spPr>
        <p:txBody>
          <a:bodyPr wrap="square" lIns="0" tIns="0" rIns="0" bIns="0" rtlCol="0" anchor="ctr"/>
          <a:lstStyle/>
          <a:p>
            <a:pPr algn="ctr" indent="0" marL="0">
              <a:buNone/>
            </a:pPr>
            <a:r>
              <a:rPr lang="en-US" sz="1350" b="1" dirty="0">
                <a:solidFill>
                  <a:srgbClr val="12283F"/>
                </a:solidFill>
                <a:latin typeface="Calibri" pitchFamily="34" charset="0"/>
                <a:ea typeface="Calibri" pitchFamily="34" charset="-122"/>
                <a:cs typeface="Calibri" pitchFamily="34" charset="-120"/>
              </a:rPr>
              <a:t>Collect data</a:t>
            </a:r>
            <a:endParaRPr lang="en-US" sz="1350" dirty="0"/>
          </a:p>
        </p:txBody>
      </p:sp>
      <p:sp>
        <p:nvSpPr>
          <p:cNvPr id="8" name="Text 5"/>
          <p:cNvSpPr txBox="1"/>
          <p:nvPr/>
        </p:nvSpPr>
        <p:spPr>
          <a:xfrm>
            <a:off x="621792" y="2267712"/>
            <a:ext cx="1438612" cy="594360"/>
          </a:xfrm>
          <a:prstGeom prst="rect">
            <a:avLst/>
          </a:prstGeom>
          <a:noFill/>
          <a:ln/>
        </p:spPr>
        <p:txBody>
          <a:bodyPr wrap="square" lIns="0" tIns="0" rIns="0" bIns="0" rtlCol="0" anchor="t"/>
          <a:lstStyle/>
          <a:p>
            <a:pPr algn="ctr" indent="0" marL="0">
              <a:buNone/>
            </a:pPr>
            <a:r>
              <a:rPr lang="en-US" sz="1150" dirty="0">
                <a:solidFill>
                  <a:srgbClr val="556677"/>
                </a:solidFill>
                <a:latin typeface="Calibri" pitchFamily="34" charset="0"/>
                <a:ea typeface="Calibri" pitchFamily="34" charset="-122"/>
                <a:cs typeface="Calibri" pitchFamily="34" charset="-120"/>
              </a:rPr>
              <a:t>SAR, EO, AIS, currents, wind</a:t>
            </a:r>
            <a:endParaRPr lang="en-US" sz="1150" dirty="0"/>
          </a:p>
        </p:txBody>
      </p:sp>
      <p:sp>
        <p:nvSpPr>
          <p:cNvPr id="9" name="Shape 6"/>
          <p:cNvSpPr/>
          <p:nvPr/>
        </p:nvSpPr>
        <p:spPr>
          <a:xfrm>
            <a:off x="2660839" y="1307592"/>
            <a:ext cx="530352" cy="530352"/>
          </a:xfrm>
          <a:prstGeom prst="ellipse">
            <a:avLst/>
          </a:prstGeom>
          <a:solidFill>
            <a:srgbClr val="0F766E"/>
          </a:solidFill>
          <a:ln w="38100">
            <a:solidFill>
              <a:srgbClr val="FFFFFF"/>
            </a:solidFill>
            <a:prstDash val="solid"/>
          </a:ln>
        </p:spPr>
      </p:sp>
      <p:sp>
        <p:nvSpPr>
          <p:cNvPr id="10" name="Text 7"/>
          <p:cNvSpPr txBox="1"/>
          <p:nvPr/>
        </p:nvSpPr>
        <p:spPr>
          <a:xfrm>
            <a:off x="2660839" y="130759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179276" y="1956816"/>
            <a:ext cx="1493476" cy="292608"/>
          </a:xfrm>
          <a:prstGeom prst="rect">
            <a:avLst/>
          </a:prstGeom>
          <a:noFill/>
          <a:ln/>
        </p:spPr>
        <p:txBody>
          <a:bodyPr wrap="square" lIns="0" tIns="0" rIns="0" bIns="0" rtlCol="0" anchor="ctr"/>
          <a:lstStyle/>
          <a:p>
            <a:pPr algn="ctr" indent="0" marL="0">
              <a:buNone/>
            </a:pPr>
            <a:r>
              <a:rPr lang="en-US" sz="1350" b="1" dirty="0">
                <a:solidFill>
                  <a:srgbClr val="12283F"/>
                </a:solidFill>
                <a:latin typeface="Calibri" pitchFamily="34" charset="0"/>
                <a:ea typeface="Calibri" pitchFamily="34" charset="-122"/>
                <a:cs typeface="Calibri" pitchFamily="34" charset="-120"/>
              </a:rPr>
              <a:t>Clean &amp; sync</a:t>
            </a:r>
            <a:endParaRPr lang="en-US" sz="1350" dirty="0"/>
          </a:p>
        </p:txBody>
      </p:sp>
      <p:sp>
        <p:nvSpPr>
          <p:cNvPr id="12" name="Text 9"/>
          <p:cNvSpPr txBox="1"/>
          <p:nvPr/>
        </p:nvSpPr>
        <p:spPr>
          <a:xfrm>
            <a:off x="2206708" y="2267712"/>
            <a:ext cx="1438612" cy="594360"/>
          </a:xfrm>
          <a:prstGeom prst="rect">
            <a:avLst/>
          </a:prstGeom>
          <a:noFill/>
          <a:ln/>
        </p:spPr>
        <p:txBody>
          <a:bodyPr wrap="square" lIns="0" tIns="0" rIns="0" bIns="0" rtlCol="0" anchor="t"/>
          <a:lstStyle/>
          <a:p>
            <a:pPr algn="ctr" indent="0" marL="0">
              <a:buNone/>
            </a:pPr>
            <a:r>
              <a:rPr lang="en-US" sz="1150" dirty="0">
                <a:solidFill>
                  <a:srgbClr val="556677"/>
                </a:solidFill>
                <a:latin typeface="Calibri" pitchFamily="34" charset="0"/>
                <a:ea typeface="Calibri" pitchFamily="34" charset="-122"/>
                <a:cs typeface="Calibri" pitchFamily="34" charset="-120"/>
              </a:rPr>
              <a:t>Normalise, filter, align in time</a:t>
            </a:r>
            <a:endParaRPr lang="en-US" sz="1150" dirty="0"/>
          </a:p>
        </p:txBody>
      </p:sp>
      <p:sp>
        <p:nvSpPr>
          <p:cNvPr id="13" name="Shape 10"/>
          <p:cNvSpPr/>
          <p:nvPr/>
        </p:nvSpPr>
        <p:spPr>
          <a:xfrm>
            <a:off x="4245755" y="1307592"/>
            <a:ext cx="530352" cy="530352"/>
          </a:xfrm>
          <a:prstGeom prst="ellipse">
            <a:avLst/>
          </a:prstGeom>
          <a:solidFill>
            <a:srgbClr val="0F766E"/>
          </a:solidFill>
          <a:ln w="38100">
            <a:solidFill>
              <a:srgbClr val="FFFFFF"/>
            </a:solidFill>
            <a:prstDash val="solid"/>
          </a:ln>
        </p:spPr>
      </p:sp>
      <p:sp>
        <p:nvSpPr>
          <p:cNvPr id="14" name="Text 11"/>
          <p:cNvSpPr txBox="1"/>
          <p:nvPr/>
        </p:nvSpPr>
        <p:spPr>
          <a:xfrm>
            <a:off x="4245755" y="130759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3764193" y="1956816"/>
            <a:ext cx="1493476" cy="292608"/>
          </a:xfrm>
          <a:prstGeom prst="rect">
            <a:avLst/>
          </a:prstGeom>
          <a:noFill/>
          <a:ln/>
        </p:spPr>
        <p:txBody>
          <a:bodyPr wrap="square" lIns="0" tIns="0" rIns="0" bIns="0" rtlCol="0" anchor="ctr"/>
          <a:lstStyle/>
          <a:p>
            <a:pPr algn="ctr" indent="0" marL="0">
              <a:buNone/>
            </a:pPr>
            <a:r>
              <a:rPr lang="en-US" sz="1350" b="1" dirty="0">
                <a:solidFill>
                  <a:srgbClr val="12283F"/>
                </a:solidFill>
                <a:latin typeface="Calibri" pitchFamily="34" charset="0"/>
                <a:ea typeface="Calibri" pitchFamily="34" charset="-122"/>
                <a:cs typeface="Calibri" pitchFamily="34" charset="-120"/>
              </a:rPr>
              <a:t>Detect spill</a:t>
            </a:r>
            <a:endParaRPr lang="en-US" sz="1350" dirty="0"/>
          </a:p>
        </p:txBody>
      </p:sp>
      <p:sp>
        <p:nvSpPr>
          <p:cNvPr id="16" name="Text 13"/>
          <p:cNvSpPr txBox="1"/>
          <p:nvPr/>
        </p:nvSpPr>
        <p:spPr>
          <a:xfrm>
            <a:off x="3791625" y="2267712"/>
            <a:ext cx="1438612" cy="594360"/>
          </a:xfrm>
          <a:prstGeom prst="rect">
            <a:avLst/>
          </a:prstGeom>
          <a:noFill/>
          <a:ln/>
        </p:spPr>
        <p:txBody>
          <a:bodyPr wrap="square" lIns="0" tIns="0" rIns="0" bIns="0" rtlCol="0" anchor="t"/>
          <a:lstStyle/>
          <a:p>
            <a:pPr algn="ctr" indent="0" marL="0">
              <a:buNone/>
            </a:pPr>
            <a:r>
              <a:rPr lang="en-US" sz="1150" dirty="0">
                <a:solidFill>
                  <a:srgbClr val="556677"/>
                </a:solidFill>
                <a:latin typeface="Calibri" pitchFamily="34" charset="0"/>
                <a:ea typeface="Calibri" pitchFamily="34" charset="-122"/>
                <a:cs typeface="Calibri" pitchFamily="34" charset="-120"/>
              </a:rPr>
              <a:t>AI segments and measures the slick</a:t>
            </a:r>
            <a:endParaRPr lang="en-US" sz="1150" dirty="0"/>
          </a:p>
        </p:txBody>
      </p:sp>
      <p:sp>
        <p:nvSpPr>
          <p:cNvPr id="17" name="Shape 14"/>
          <p:cNvSpPr/>
          <p:nvPr/>
        </p:nvSpPr>
        <p:spPr>
          <a:xfrm>
            <a:off x="5830672" y="1307592"/>
            <a:ext cx="530352" cy="530352"/>
          </a:xfrm>
          <a:prstGeom prst="ellipse">
            <a:avLst/>
          </a:prstGeom>
          <a:solidFill>
            <a:srgbClr val="0F766E"/>
          </a:solidFill>
          <a:ln w="38100">
            <a:solidFill>
              <a:srgbClr val="FFFFFF"/>
            </a:solidFill>
            <a:prstDash val="solid"/>
          </a:ln>
        </p:spPr>
      </p:sp>
      <p:sp>
        <p:nvSpPr>
          <p:cNvPr id="18" name="Text 15"/>
          <p:cNvSpPr txBox="1"/>
          <p:nvPr/>
        </p:nvSpPr>
        <p:spPr>
          <a:xfrm>
            <a:off x="5830672" y="130759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5349109" y="1956816"/>
            <a:ext cx="1493476" cy="292608"/>
          </a:xfrm>
          <a:prstGeom prst="rect">
            <a:avLst/>
          </a:prstGeom>
          <a:noFill/>
          <a:ln/>
        </p:spPr>
        <p:txBody>
          <a:bodyPr wrap="square" lIns="0" tIns="0" rIns="0" bIns="0" rtlCol="0" anchor="ctr"/>
          <a:lstStyle/>
          <a:p>
            <a:pPr algn="ctr" indent="0" marL="0">
              <a:buNone/>
            </a:pPr>
            <a:r>
              <a:rPr lang="en-US" sz="1350" b="1" dirty="0">
                <a:solidFill>
                  <a:srgbClr val="12283F"/>
                </a:solidFill>
                <a:latin typeface="Calibri" pitchFamily="34" charset="0"/>
                <a:ea typeface="Calibri" pitchFamily="34" charset="-122"/>
                <a:cs typeface="Calibri" pitchFamily="34" charset="-120"/>
              </a:rPr>
              <a:t>Predict &amp; hindcast</a:t>
            </a:r>
            <a:endParaRPr lang="en-US" sz="1350" dirty="0"/>
          </a:p>
        </p:txBody>
      </p:sp>
      <p:sp>
        <p:nvSpPr>
          <p:cNvPr id="20" name="Text 17"/>
          <p:cNvSpPr txBox="1"/>
          <p:nvPr/>
        </p:nvSpPr>
        <p:spPr>
          <a:xfrm>
            <a:off x="5376541" y="2267712"/>
            <a:ext cx="1438612" cy="594360"/>
          </a:xfrm>
          <a:prstGeom prst="rect">
            <a:avLst/>
          </a:prstGeom>
          <a:noFill/>
          <a:ln/>
        </p:spPr>
        <p:txBody>
          <a:bodyPr wrap="square" lIns="0" tIns="0" rIns="0" bIns="0" rtlCol="0" anchor="t"/>
          <a:lstStyle/>
          <a:p>
            <a:pPr algn="ctr" indent="0" marL="0">
              <a:buNone/>
            </a:pPr>
            <a:r>
              <a:rPr lang="en-US" sz="1150" dirty="0">
                <a:solidFill>
                  <a:srgbClr val="556677"/>
                </a:solidFill>
                <a:latin typeface="Calibri" pitchFamily="34" charset="0"/>
                <a:ea typeface="Calibri" pitchFamily="34" charset="-122"/>
                <a:cs typeface="Calibri" pitchFamily="34" charset="-120"/>
              </a:rPr>
              <a:t>Drift forward, origin backward</a:t>
            </a:r>
            <a:endParaRPr lang="en-US" sz="1150" dirty="0"/>
          </a:p>
        </p:txBody>
      </p:sp>
      <p:sp>
        <p:nvSpPr>
          <p:cNvPr id="21" name="Shape 18"/>
          <p:cNvSpPr/>
          <p:nvPr/>
        </p:nvSpPr>
        <p:spPr>
          <a:xfrm>
            <a:off x="7415588" y="1307592"/>
            <a:ext cx="530352" cy="530352"/>
          </a:xfrm>
          <a:prstGeom prst="ellipse">
            <a:avLst/>
          </a:prstGeom>
          <a:solidFill>
            <a:srgbClr val="0F766E"/>
          </a:solidFill>
          <a:ln w="38100">
            <a:solidFill>
              <a:srgbClr val="FFFFFF"/>
            </a:solidFill>
            <a:prstDash val="solid"/>
          </a:ln>
        </p:spPr>
      </p:sp>
      <p:sp>
        <p:nvSpPr>
          <p:cNvPr id="22" name="Text 19"/>
          <p:cNvSpPr txBox="1"/>
          <p:nvPr/>
        </p:nvSpPr>
        <p:spPr>
          <a:xfrm>
            <a:off x="7415588" y="130759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6934026" y="1956816"/>
            <a:ext cx="1493476" cy="292608"/>
          </a:xfrm>
          <a:prstGeom prst="rect">
            <a:avLst/>
          </a:prstGeom>
          <a:noFill/>
          <a:ln/>
        </p:spPr>
        <p:txBody>
          <a:bodyPr wrap="square" lIns="0" tIns="0" rIns="0" bIns="0" rtlCol="0" anchor="ctr"/>
          <a:lstStyle/>
          <a:p>
            <a:pPr algn="ctr" indent="0" marL="0">
              <a:buNone/>
            </a:pPr>
            <a:r>
              <a:rPr lang="en-US" sz="1350" b="1" dirty="0">
                <a:solidFill>
                  <a:srgbClr val="12283F"/>
                </a:solidFill>
                <a:latin typeface="Calibri" pitchFamily="34" charset="0"/>
                <a:ea typeface="Calibri" pitchFamily="34" charset="-122"/>
                <a:cs typeface="Calibri" pitchFamily="34" charset="-120"/>
              </a:rPr>
              <a:t>Correlate AIS</a:t>
            </a:r>
            <a:endParaRPr lang="en-US" sz="1350" dirty="0"/>
          </a:p>
        </p:txBody>
      </p:sp>
      <p:sp>
        <p:nvSpPr>
          <p:cNvPr id="24" name="Text 21"/>
          <p:cNvSpPr txBox="1"/>
          <p:nvPr/>
        </p:nvSpPr>
        <p:spPr>
          <a:xfrm>
            <a:off x="6961458" y="2267712"/>
            <a:ext cx="1438612" cy="594360"/>
          </a:xfrm>
          <a:prstGeom prst="rect">
            <a:avLst/>
          </a:prstGeom>
          <a:noFill/>
          <a:ln/>
        </p:spPr>
        <p:txBody>
          <a:bodyPr wrap="square" lIns="0" tIns="0" rIns="0" bIns="0" rtlCol="0" anchor="t"/>
          <a:lstStyle/>
          <a:p>
            <a:pPr algn="ctr" indent="0" marL="0">
              <a:buNone/>
            </a:pPr>
            <a:r>
              <a:rPr lang="en-US" sz="1150" dirty="0">
                <a:solidFill>
                  <a:srgbClr val="556677"/>
                </a:solidFill>
                <a:latin typeface="Calibri" pitchFamily="34" charset="0"/>
                <a:ea typeface="Calibri" pitchFamily="34" charset="-122"/>
                <a:cs typeface="Calibri" pitchFamily="34" charset="-120"/>
              </a:rPr>
              <a:t>Filter and match vessel tracks</a:t>
            </a:r>
            <a:endParaRPr lang="en-US" sz="1150" dirty="0"/>
          </a:p>
        </p:txBody>
      </p:sp>
      <p:sp>
        <p:nvSpPr>
          <p:cNvPr id="25" name="Shape 22"/>
          <p:cNvSpPr/>
          <p:nvPr/>
        </p:nvSpPr>
        <p:spPr>
          <a:xfrm>
            <a:off x="9000505" y="1307592"/>
            <a:ext cx="530352" cy="530352"/>
          </a:xfrm>
          <a:prstGeom prst="ellipse">
            <a:avLst/>
          </a:prstGeom>
          <a:solidFill>
            <a:srgbClr val="0F766E"/>
          </a:solidFill>
          <a:ln w="38100">
            <a:solidFill>
              <a:srgbClr val="FFFFFF"/>
            </a:solidFill>
            <a:prstDash val="solid"/>
          </a:ln>
        </p:spPr>
      </p:sp>
      <p:sp>
        <p:nvSpPr>
          <p:cNvPr id="26" name="Text 23"/>
          <p:cNvSpPr txBox="1"/>
          <p:nvPr/>
        </p:nvSpPr>
        <p:spPr>
          <a:xfrm>
            <a:off x="9000505" y="130759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7" name="Text 24"/>
          <p:cNvSpPr txBox="1"/>
          <p:nvPr/>
        </p:nvSpPr>
        <p:spPr>
          <a:xfrm>
            <a:off x="8518942" y="1956816"/>
            <a:ext cx="1493476" cy="292608"/>
          </a:xfrm>
          <a:prstGeom prst="rect">
            <a:avLst/>
          </a:prstGeom>
          <a:noFill/>
          <a:ln/>
        </p:spPr>
        <p:txBody>
          <a:bodyPr wrap="square" lIns="0" tIns="0" rIns="0" bIns="0" rtlCol="0" anchor="ctr"/>
          <a:lstStyle/>
          <a:p>
            <a:pPr algn="ctr" indent="0" marL="0">
              <a:buNone/>
            </a:pPr>
            <a:r>
              <a:rPr lang="en-US" sz="1350" b="1" dirty="0">
                <a:solidFill>
                  <a:srgbClr val="12283F"/>
                </a:solidFill>
                <a:latin typeface="Calibri" pitchFamily="34" charset="0"/>
                <a:ea typeface="Calibri" pitchFamily="34" charset="-122"/>
                <a:cs typeface="Calibri" pitchFamily="34" charset="-120"/>
              </a:rPr>
              <a:t>Rank vessels</a:t>
            </a:r>
            <a:endParaRPr lang="en-US" sz="1350" dirty="0"/>
          </a:p>
        </p:txBody>
      </p:sp>
      <p:sp>
        <p:nvSpPr>
          <p:cNvPr id="28" name="Text 25"/>
          <p:cNvSpPr txBox="1"/>
          <p:nvPr/>
        </p:nvSpPr>
        <p:spPr>
          <a:xfrm>
            <a:off x="8546374" y="2267712"/>
            <a:ext cx="1438612" cy="594360"/>
          </a:xfrm>
          <a:prstGeom prst="rect">
            <a:avLst/>
          </a:prstGeom>
          <a:noFill/>
          <a:ln/>
        </p:spPr>
        <p:txBody>
          <a:bodyPr wrap="square" lIns="0" tIns="0" rIns="0" bIns="0" rtlCol="0" anchor="t"/>
          <a:lstStyle/>
          <a:p>
            <a:pPr algn="ctr" indent="0" marL="0">
              <a:buNone/>
            </a:pPr>
            <a:r>
              <a:rPr lang="en-US" sz="1150" dirty="0">
                <a:solidFill>
                  <a:srgbClr val="556677"/>
                </a:solidFill>
                <a:latin typeface="Calibri" pitchFamily="34" charset="0"/>
                <a:ea typeface="Calibri" pitchFamily="34" charset="-122"/>
                <a:cs typeface="Calibri" pitchFamily="34" charset="-120"/>
              </a:rPr>
              <a:t>Score with the evidence shown</a:t>
            </a:r>
            <a:endParaRPr lang="en-US" sz="1150" dirty="0"/>
          </a:p>
        </p:txBody>
      </p:sp>
      <p:sp>
        <p:nvSpPr>
          <p:cNvPr id="29" name="Shape 26"/>
          <p:cNvSpPr/>
          <p:nvPr/>
        </p:nvSpPr>
        <p:spPr>
          <a:xfrm>
            <a:off x="10585421" y="1307592"/>
            <a:ext cx="530352" cy="530352"/>
          </a:xfrm>
          <a:prstGeom prst="ellipse">
            <a:avLst/>
          </a:prstGeom>
          <a:solidFill>
            <a:srgbClr val="0F766E"/>
          </a:solidFill>
          <a:ln w="38100">
            <a:solidFill>
              <a:srgbClr val="FFFFFF"/>
            </a:solidFill>
            <a:prstDash val="solid"/>
          </a:ln>
        </p:spPr>
      </p:sp>
      <p:sp>
        <p:nvSpPr>
          <p:cNvPr id="30" name="Text 27"/>
          <p:cNvSpPr txBox="1"/>
          <p:nvPr/>
        </p:nvSpPr>
        <p:spPr>
          <a:xfrm>
            <a:off x="10585421" y="1307592"/>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31" name="Text 28"/>
          <p:cNvSpPr txBox="1"/>
          <p:nvPr/>
        </p:nvSpPr>
        <p:spPr>
          <a:xfrm>
            <a:off x="10103859" y="1956816"/>
            <a:ext cx="1493476" cy="292608"/>
          </a:xfrm>
          <a:prstGeom prst="rect">
            <a:avLst/>
          </a:prstGeom>
          <a:noFill/>
          <a:ln/>
        </p:spPr>
        <p:txBody>
          <a:bodyPr wrap="square" lIns="0" tIns="0" rIns="0" bIns="0" rtlCol="0" anchor="ctr"/>
          <a:lstStyle/>
          <a:p>
            <a:pPr algn="ctr" indent="0" marL="0">
              <a:buNone/>
            </a:pPr>
            <a:r>
              <a:rPr lang="en-US" sz="1350" b="1" dirty="0">
                <a:solidFill>
                  <a:srgbClr val="12283F"/>
                </a:solidFill>
                <a:latin typeface="Calibri" pitchFamily="34" charset="0"/>
                <a:ea typeface="Calibri" pitchFamily="34" charset="-122"/>
                <a:cs typeface="Calibri" pitchFamily="34" charset="-120"/>
              </a:rPr>
              <a:t>Dashboard</a:t>
            </a:r>
            <a:endParaRPr lang="en-US" sz="1350" dirty="0"/>
          </a:p>
        </p:txBody>
      </p:sp>
      <p:sp>
        <p:nvSpPr>
          <p:cNvPr id="32" name="Text 29"/>
          <p:cNvSpPr txBox="1"/>
          <p:nvPr/>
        </p:nvSpPr>
        <p:spPr>
          <a:xfrm>
            <a:off x="10131291" y="2267712"/>
            <a:ext cx="1438612" cy="594360"/>
          </a:xfrm>
          <a:prstGeom prst="rect">
            <a:avLst/>
          </a:prstGeom>
          <a:noFill/>
          <a:ln/>
        </p:spPr>
        <p:txBody>
          <a:bodyPr wrap="square" lIns="0" tIns="0" rIns="0" bIns="0" rtlCol="0" anchor="t"/>
          <a:lstStyle/>
          <a:p>
            <a:pPr algn="ctr" indent="0" marL="0">
              <a:buNone/>
            </a:pPr>
            <a:r>
              <a:rPr lang="en-US" sz="1150" dirty="0">
                <a:solidFill>
                  <a:srgbClr val="556677"/>
                </a:solidFill>
                <a:latin typeface="Calibri" pitchFamily="34" charset="0"/>
                <a:ea typeface="Calibri" pitchFamily="34" charset="-122"/>
                <a:cs typeface="Calibri" pitchFamily="34" charset="-120"/>
              </a:rPr>
              <a:t>Spill, drift and ranked vessels</a:t>
            </a:r>
            <a:endParaRPr lang="en-US" sz="1150" dirty="0"/>
          </a:p>
        </p:txBody>
      </p:sp>
      <p:sp>
        <p:nvSpPr>
          <p:cNvPr id="33" name="Text 30"/>
          <p:cNvSpPr txBox="1"/>
          <p:nvPr/>
        </p:nvSpPr>
        <p:spPr>
          <a:xfrm>
            <a:off x="548640" y="3154680"/>
            <a:ext cx="512064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SOFTWARE TOOLS</a:t>
            </a:r>
            <a:endParaRPr lang="en-US" sz="1200" dirty="0"/>
          </a:p>
        </p:txBody>
      </p:sp>
      <p:sp>
        <p:nvSpPr>
          <p:cNvPr id="34" name="Text 31"/>
          <p:cNvSpPr txBox="1"/>
          <p:nvPr/>
        </p:nvSpPr>
        <p:spPr>
          <a:xfrm>
            <a:off x="548640" y="3493008"/>
            <a:ext cx="5212080" cy="530352"/>
          </a:xfrm>
          <a:prstGeom prst="rect">
            <a:avLst/>
          </a:prstGeom>
          <a:noFill/>
          <a:ln/>
        </p:spPr>
        <p:txBody>
          <a:bodyPr wrap="square" lIns="0" tIns="0" rIns="0" bIns="0" rtlCol="0" anchor="t"/>
          <a:lstStyle/>
          <a:p>
            <a:pPr indent="0" marL="0">
              <a:buNone/>
            </a:pPr>
            <a:r>
              <a:rPr lang="en-US" sz="1250" b="1" dirty="0">
                <a:solidFill>
                  <a:srgbClr val="0F766E"/>
                </a:solidFill>
                <a:latin typeface="Calibri" pitchFamily="34" charset="0"/>
                <a:ea typeface="Calibri" pitchFamily="34" charset="-122"/>
                <a:cs typeface="Calibri" pitchFamily="34" charset="-120"/>
              </a:rPr>
              <a:t>AI &amp; imaging</a:t>
            </a:r>
            <a:endParaRPr lang="en-US" sz="1250" dirty="0"/>
          </a:p>
          <a:p>
            <a:pPr indent="0" marL="0">
              <a:buNone/>
            </a:pPr>
            <a:r>
              <a:rPr lang="en-US" sz="1300" dirty="0">
                <a:solidFill>
                  <a:srgbClr val="12283F"/>
                </a:solidFill>
                <a:latin typeface="Calibri" pitchFamily="34" charset="0"/>
                <a:ea typeface="Calibri" pitchFamily="34" charset="-122"/>
                <a:cs typeface="Calibri" pitchFamily="34" charset="-120"/>
              </a:rPr>
              <a:t>Python  |  OpenCV  |  YOLO / U-Net</a:t>
            </a:r>
            <a:endParaRPr lang="en-US" sz="1250" dirty="0"/>
          </a:p>
        </p:txBody>
      </p:sp>
      <p:sp>
        <p:nvSpPr>
          <p:cNvPr id="35" name="Text 32"/>
          <p:cNvSpPr txBox="1"/>
          <p:nvPr/>
        </p:nvSpPr>
        <p:spPr>
          <a:xfrm>
            <a:off x="548640" y="4059936"/>
            <a:ext cx="5212080" cy="530352"/>
          </a:xfrm>
          <a:prstGeom prst="rect">
            <a:avLst/>
          </a:prstGeom>
          <a:noFill/>
          <a:ln/>
        </p:spPr>
        <p:txBody>
          <a:bodyPr wrap="square" lIns="0" tIns="0" rIns="0" bIns="0" rtlCol="0" anchor="t"/>
          <a:lstStyle/>
          <a:p>
            <a:pPr indent="0" marL="0">
              <a:buNone/>
            </a:pPr>
            <a:r>
              <a:rPr lang="en-US" sz="1250" b="1" dirty="0">
                <a:solidFill>
                  <a:srgbClr val="0F766E"/>
                </a:solidFill>
                <a:latin typeface="Calibri" pitchFamily="34" charset="0"/>
                <a:ea typeface="Calibri" pitchFamily="34" charset="-122"/>
                <a:cs typeface="Calibri" pitchFamily="34" charset="-120"/>
              </a:rPr>
              <a:t>Geospatial &amp; storage</a:t>
            </a:r>
            <a:endParaRPr lang="en-US" sz="1250" dirty="0"/>
          </a:p>
          <a:p>
            <a:pPr indent="0" marL="0">
              <a:buNone/>
            </a:pPr>
            <a:r>
              <a:rPr lang="en-US" sz="1300" dirty="0">
                <a:solidFill>
                  <a:srgbClr val="12283F"/>
                </a:solidFill>
                <a:latin typeface="Calibri" pitchFamily="34" charset="0"/>
                <a:ea typeface="Calibri" pitchFamily="34" charset="-122"/>
                <a:cs typeface="Calibri" pitchFamily="34" charset="-120"/>
              </a:rPr>
              <a:t>QGIS  |  PostgreSQL + PostGIS  |  Google Earth Engine</a:t>
            </a:r>
            <a:endParaRPr lang="en-US" sz="1250" dirty="0"/>
          </a:p>
        </p:txBody>
      </p:sp>
      <p:sp>
        <p:nvSpPr>
          <p:cNvPr id="36" name="Text 33"/>
          <p:cNvSpPr txBox="1"/>
          <p:nvPr/>
        </p:nvSpPr>
        <p:spPr>
          <a:xfrm>
            <a:off x="548640" y="4626864"/>
            <a:ext cx="5212080" cy="530352"/>
          </a:xfrm>
          <a:prstGeom prst="rect">
            <a:avLst/>
          </a:prstGeom>
          <a:noFill/>
          <a:ln/>
        </p:spPr>
        <p:txBody>
          <a:bodyPr wrap="square" lIns="0" tIns="0" rIns="0" bIns="0" rtlCol="0" anchor="t"/>
          <a:lstStyle/>
          <a:p>
            <a:pPr indent="0" marL="0">
              <a:buNone/>
            </a:pPr>
            <a:r>
              <a:rPr lang="en-US" sz="1250" b="1" dirty="0">
                <a:solidFill>
                  <a:srgbClr val="0F766E"/>
                </a:solidFill>
                <a:latin typeface="Calibri" pitchFamily="34" charset="0"/>
                <a:ea typeface="Calibri" pitchFamily="34" charset="-122"/>
                <a:cs typeface="Calibri" pitchFamily="34" charset="-120"/>
              </a:rPr>
              <a:t>Data sources</a:t>
            </a:r>
            <a:endParaRPr lang="en-US" sz="1250" dirty="0"/>
          </a:p>
          <a:p>
            <a:pPr indent="0" marL="0">
              <a:buNone/>
            </a:pPr>
            <a:r>
              <a:rPr lang="en-US" sz="1300" dirty="0">
                <a:solidFill>
                  <a:srgbClr val="12283F"/>
                </a:solidFill>
                <a:latin typeface="Calibri" pitchFamily="34" charset="0"/>
                <a:ea typeface="Calibri" pitchFamily="34" charset="-122"/>
                <a:cs typeface="Calibri" pitchFamily="34" charset="-120"/>
              </a:rPr>
              <a:t>Sentinel-1 SAR  |  AIS datasets  |  Copernicus Marine / ERA5</a:t>
            </a:r>
            <a:endParaRPr lang="en-US" sz="1250" dirty="0"/>
          </a:p>
        </p:txBody>
      </p:sp>
      <p:sp>
        <p:nvSpPr>
          <p:cNvPr id="37" name="Text 34"/>
          <p:cNvSpPr txBox="1"/>
          <p:nvPr/>
        </p:nvSpPr>
        <p:spPr>
          <a:xfrm>
            <a:off x="548640" y="5193792"/>
            <a:ext cx="5212080" cy="530352"/>
          </a:xfrm>
          <a:prstGeom prst="rect">
            <a:avLst/>
          </a:prstGeom>
          <a:noFill/>
          <a:ln/>
        </p:spPr>
        <p:txBody>
          <a:bodyPr wrap="square" lIns="0" tIns="0" rIns="0" bIns="0" rtlCol="0" anchor="t"/>
          <a:lstStyle/>
          <a:p>
            <a:pPr indent="0" marL="0">
              <a:buNone/>
            </a:pPr>
            <a:r>
              <a:rPr lang="en-US" sz="1250" b="1" dirty="0">
                <a:solidFill>
                  <a:srgbClr val="0F766E"/>
                </a:solidFill>
                <a:latin typeface="Calibri" pitchFamily="34" charset="0"/>
                <a:ea typeface="Calibri" pitchFamily="34" charset="-122"/>
                <a:cs typeface="Calibri" pitchFamily="34" charset="-120"/>
              </a:rPr>
              <a:t>App</a:t>
            </a:r>
            <a:endParaRPr lang="en-US" sz="1250" dirty="0"/>
          </a:p>
          <a:p>
            <a:pPr indent="0" marL="0">
              <a:buNone/>
            </a:pPr>
            <a:r>
              <a:rPr lang="en-US" sz="1300" dirty="0">
                <a:solidFill>
                  <a:srgbClr val="12283F"/>
                </a:solidFill>
                <a:latin typeface="Calibri" pitchFamily="34" charset="0"/>
                <a:ea typeface="Calibri" pitchFamily="34" charset="-122"/>
                <a:cs typeface="Calibri" pitchFamily="34" charset="-120"/>
              </a:rPr>
              <a:t>FastAPI backend  |  React.js dashboard</a:t>
            </a:r>
            <a:endParaRPr lang="en-US" sz="1250" dirty="0"/>
          </a:p>
        </p:txBody>
      </p:sp>
      <p:sp>
        <p:nvSpPr>
          <p:cNvPr id="38" name="Shape 35"/>
          <p:cNvSpPr/>
          <p:nvPr/>
        </p:nvSpPr>
        <p:spPr>
          <a:xfrm>
            <a:off x="548640" y="5833872"/>
            <a:ext cx="5212080" cy="420624"/>
          </a:xfrm>
          <a:prstGeom prst="rect">
            <a:avLst/>
          </a:prstGeom>
          <a:solidFill>
            <a:srgbClr val="EEF3F6"/>
          </a:solidFill>
          <a:ln w="12700">
            <a:solidFill>
              <a:srgbClr val="EEF3F6"/>
            </a:solidFill>
            <a:prstDash val="solid"/>
          </a:ln>
        </p:spPr>
      </p:sp>
      <p:sp>
        <p:nvSpPr>
          <p:cNvPr id="39" name="Text 36"/>
          <p:cNvSpPr txBox="1"/>
          <p:nvPr/>
        </p:nvSpPr>
        <p:spPr>
          <a:xfrm>
            <a:off x="685800" y="5833872"/>
            <a:ext cx="4937760" cy="420624"/>
          </a:xfrm>
          <a:prstGeom prst="rect">
            <a:avLst/>
          </a:prstGeom>
          <a:noFill/>
          <a:ln/>
        </p:spPr>
        <p:txBody>
          <a:bodyPr wrap="square" lIns="0" tIns="0" rIns="0" bIns="0" rtlCol="0" anchor="ctr"/>
          <a:lstStyle/>
          <a:p>
            <a:pPr indent="0" marL="0">
              <a:buNone/>
            </a:pPr>
            <a:r>
              <a:rPr lang="en-US" sz="1150" b="1" dirty="0">
                <a:solidFill>
                  <a:srgbClr val="0F766E"/>
                </a:solidFill>
                <a:latin typeface="Calibri" pitchFamily="34" charset="0"/>
                <a:ea typeface="Calibri" pitchFamily="34" charset="-122"/>
                <a:cs typeface="Calibri" pitchFamily="34" charset="-120"/>
              </a:rPr>
              <a:t>Prototype: React + TypeScript, sample data, swappable services</a:t>
            </a:r>
            <a:endParaRPr lang="en-US" sz="1150" dirty="0"/>
          </a:p>
        </p:txBody>
      </p:sp>
      <p:sp>
        <p:nvSpPr>
          <p:cNvPr id="40" name="Shape 37"/>
          <p:cNvSpPr/>
          <p:nvPr/>
        </p:nvSpPr>
        <p:spPr>
          <a:xfrm>
            <a:off x="6156655" y="3127248"/>
            <a:ext cx="5532120" cy="3151823"/>
          </a:xfrm>
          <a:prstGeom prst="rect">
            <a:avLst/>
          </a:prstGeom>
          <a:solidFill>
            <a:srgbClr val="0B1F33"/>
          </a:solidFill>
          <a:ln w="12700">
            <a:solidFill>
              <a:srgbClr val="0B1F33"/>
            </a:solidFill>
            <a:prstDash val="solid"/>
          </a:ln>
        </p:spPr>
      </p:sp>
      <p:pic>
        <p:nvPicPr>
          <p:cNvPr id="41" name="Image 1" descr="C:/Users/akile/AppData/Local/Temp/claude/c--Users-akile-OneDrive-Desktop-Backend-Engineering-New-folder/8920ce60-01cf-4ad7-8231-4512026fc533/scratchpad/deck/console.png">    </p:cNvPr>
          <p:cNvPicPr>
            <a:picLocks noChangeAspect="1"/>
          </p:cNvPicPr>
          <p:nvPr/>
        </p:nvPicPr>
        <p:blipFill>
          <a:blip r:embed="rId2"/>
          <a:stretch>
            <a:fillRect/>
          </a:stretch>
        </p:blipFill>
        <p:spPr>
          <a:xfrm>
            <a:off x="6202375" y="3172968"/>
            <a:ext cx="5440680" cy="3060383"/>
          </a:xfrm>
          <a:prstGeom prst="rect">
            <a:avLst/>
          </a:prstGeom>
        </p:spPr>
      </p:pic>
      <p:sp>
        <p:nvSpPr>
          <p:cNvPr id="42" name="Text 38"/>
          <p:cNvSpPr txBox="1"/>
          <p:nvPr/>
        </p:nvSpPr>
        <p:spPr>
          <a:xfrm>
            <a:off x="548640" y="6428232"/>
            <a:ext cx="7315200" cy="274320"/>
          </a:xfrm>
          <a:prstGeom prst="rect">
            <a:avLst/>
          </a:prstGeom>
          <a:noFill/>
          <a:ln/>
        </p:spPr>
        <p:txBody>
          <a:bodyPr wrap="square" lIns="0" tIns="0" rIns="0" bIns="0" rtlCol="0" anchor="ctr"/>
          <a:lstStyle/>
          <a:p>
            <a:pPr indent="0" marL="0">
              <a:buNone/>
            </a:pPr>
            <a:r>
              <a:rPr lang="en-US" sz="1050" dirty="0">
                <a:solidFill>
                  <a:srgbClr val="556677"/>
                </a:solidFill>
                <a:latin typeface="Calibri" pitchFamily="34" charset="0"/>
                <a:ea typeface="Calibri" pitchFamily="34" charset="-122"/>
                <a:cs typeface="Calibri" pitchFamily="34" charset="-120"/>
              </a:rPr>
              <a:t>SMART INDIA HACKATHON 2026   |   SIH26143   |   Team Mindforgue</a:t>
            </a:r>
            <a:endParaRPr lang="en-US" sz="1050" dirty="0"/>
          </a:p>
        </p:txBody>
      </p:sp>
      <p:sp>
        <p:nvSpPr>
          <p:cNvPr id="43" name="Text 39"/>
          <p:cNvSpPr txBox="1"/>
          <p:nvPr/>
        </p:nvSpPr>
        <p:spPr>
          <a:xfrm>
            <a:off x="11094415" y="6428232"/>
            <a:ext cx="548640" cy="274320"/>
          </a:xfrm>
          <a:prstGeom prst="rect">
            <a:avLst/>
          </a:prstGeom>
          <a:noFill/>
          <a:ln/>
        </p:spPr>
        <p:txBody>
          <a:bodyPr wrap="square" lIns="0" tIns="0" rIns="0" bIns="0" rtlCol="0" anchor="ctr"/>
          <a:lstStyle/>
          <a:p>
            <a:pPr algn="r" indent="0" marL="0">
              <a:buNone/>
            </a:pPr>
            <a:r>
              <a:rPr lang="en-US" sz="1050" dirty="0">
                <a:solidFill>
                  <a:srgbClr val="556677"/>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778240" cy="685800"/>
          </a:xfrm>
          <a:prstGeom prst="rect">
            <a:avLst/>
          </a:prstGeom>
          <a:noFill/>
          <a:ln/>
        </p:spPr>
        <p:txBody>
          <a:bodyPr wrap="square" lIns="0" tIns="0" rIns="0" bIns="0" rtlCol="0" anchor="ctr"/>
          <a:lstStyle/>
          <a:p>
            <a:pPr indent="0" marL="0">
              <a:buNone/>
            </a:pPr>
            <a:r>
              <a:rPr lang="en-US" sz="3200" b="1" dirty="0">
                <a:solidFill>
                  <a:srgbClr val="0B1F33"/>
                </a:solidFill>
                <a:latin typeface="Cambria" pitchFamily="34" charset="0"/>
                <a:ea typeface="Cambria" pitchFamily="34" charset="-122"/>
                <a:cs typeface="Cambria" pitchFamily="34" charset="-120"/>
              </a:rPr>
              <a:t>Feasibility and Viability</a:t>
            </a:r>
            <a:endParaRPr lang="en-US" sz="3200" dirty="0"/>
          </a:p>
        </p:txBody>
      </p:sp>
      <p:pic>
        <p:nvPicPr>
          <p:cNvPr id="3" name="Image 0" descr="C:/Users/akile/AppData/Local/Temp/claude/c--Users-akile-OneDrive-Desktop-Backend-Engineering-New-folder/8920ce60-01cf-4ad7-8231-4512026fc533/scratchpad/deck/orig/ppt/media/image4.png">    </p:cNvPr>
          <p:cNvPicPr>
            <a:picLocks noChangeAspect="1"/>
          </p:cNvPicPr>
          <p:nvPr/>
        </p:nvPicPr>
        <p:blipFill>
          <a:blip r:embed="rId1"/>
          <a:stretch>
            <a:fillRect/>
          </a:stretch>
        </p:blipFill>
        <p:spPr>
          <a:xfrm>
            <a:off x="10088575" y="274320"/>
            <a:ext cx="1554480" cy="734325"/>
          </a:xfrm>
          <a:prstGeom prst="rect">
            <a:avLst/>
          </a:prstGeom>
        </p:spPr>
      </p:pic>
      <p:sp>
        <p:nvSpPr>
          <p:cNvPr id="4" name="Shape 1"/>
          <p:cNvSpPr/>
          <p:nvPr/>
        </p:nvSpPr>
        <p:spPr>
          <a:xfrm>
            <a:off x="548640" y="1280160"/>
            <a:ext cx="3545738" cy="3429000"/>
          </a:xfrm>
          <a:prstGeom prst="rect">
            <a:avLst/>
          </a:prstGeom>
          <a:solidFill>
            <a:srgbClr val="EEF3F6"/>
          </a:solidFill>
          <a:ln w="12700">
            <a:solidFill>
              <a:srgbClr val="EEF3F6"/>
            </a:solidFill>
            <a:prstDash val="solid"/>
          </a:ln>
        </p:spPr>
      </p:sp>
      <p:sp>
        <p:nvSpPr>
          <p:cNvPr id="5" name="Shape 2"/>
          <p:cNvSpPr/>
          <p:nvPr/>
        </p:nvSpPr>
        <p:spPr>
          <a:xfrm>
            <a:off x="777240" y="1481328"/>
            <a:ext cx="420624" cy="420624"/>
          </a:xfrm>
          <a:prstGeom prst="ellipse">
            <a:avLst/>
          </a:prstGeom>
          <a:solidFill>
            <a:srgbClr val="0F766E"/>
          </a:solidFill>
          <a:ln w="12700">
            <a:solidFill>
              <a:srgbClr val="0F766E"/>
            </a:solidFill>
            <a:prstDash val="solid"/>
          </a:ln>
        </p:spPr>
      </p:sp>
      <p:pic>
        <p:nvPicPr>
          <p:cNvPr id="6" name="Image 1" descr="preencoded.png">    </p:cNvPr>
          <p:cNvPicPr>
            <a:picLocks noChangeAspect="1"/>
          </p:cNvPicPr>
          <p:nvPr/>
        </p:nvPicPr>
        <p:blipFill>
          <a:blip r:embed="rId2"/>
          <a:stretch>
            <a:fillRect/>
          </a:stretch>
        </p:blipFill>
        <p:spPr>
          <a:xfrm>
            <a:off x="882396" y="1586484"/>
            <a:ext cx="210312" cy="210312"/>
          </a:xfrm>
          <a:prstGeom prst="rect">
            <a:avLst/>
          </a:prstGeom>
        </p:spPr>
      </p:pic>
      <p:sp>
        <p:nvSpPr>
          <p:cNvPr id="7" name="Text 3"/>
          <p:cNvSpPr txBox="1"/>
          <p:nvPr/>
        </p:nvSpPr>
        <p:spPr>
          <a:xfrm>
            <a:off x="1325880" y="1481328"/>
            <a:ext cx="2585618" cy="420624"/>
          </a:xfrm>
          <a:prstGeom prst="rect">
            <a:avLst/>
          </a:prstGeom>
          <a:noFill/>
          <a:ln/>
        </p:spPr>
        <p:txBody>
          <a:bodyPr wrap="square" lIns="0" tIns="0" rIns="0" bIns="0" rtlCol="0" anchor="ctr"/>
          <a:lstStyle/>
          <a:p>
            <a:pPr indent="0" marL="0">
              <a:buNone/>
            </a:pPr>
            <a:r>
              <a:rPr lang="en-US" sz="1700" b="1" dirty="0">
                <a:solidFill>
                  <a:srgbClr val="0B1F33"/>
                </a:solidFill>
                <a:latin typeface="Cambria" pitchFamily="34" charset="0"/>
                <a:ea typeface="Cambria" pitchFamily="34" charset="-122"/>
                <a:cs typeface="Cambria" pitchFamily="34" charset="-120"/>
              </a:rPr>
              <a:t>Technical feasibility</a:t>
            </a:r>
            <a:endParaRPr lang="en-US" sz="1700" dirty="0"/>
          </a:p>
        </p:txBody>
      </p:sp>
      <p:sp>
        <p:nvSpPr>
          <p:cNvPr id="8" name="Text 4"/>
          <p:cNvSpPr txBox="1"/>
          <p:nvPr/>
        </p:nvSpPr>
        <p:spPr>
          <a:xfrm>
            <a:off x="777240" y="2103120"/>
            <a:ext cx="3088538" cy="2468880"/>
          </a:xfrm>
          <a:prstGeom prst="rect">
            <a:avLst/>
          </a:prstGeom>
          <a:noFill/>
          <a:ln/>
        </p:spPr>
        <p:txBody>
          <a:bodyPr wrap="square" lIns="0" tIns="0" rIns="0" bIns="0" rtlCol="0" anchor="t"/>
          <a:lstStyle/>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Standard data.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Satellite, AIS, wind and current data through open APIs and datasets.</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Proven stack.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Python, OpenCV, AI/ML and GIS for detection, drift and trajectory matching.</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Runs on the web.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FastAPI, PostGIS and React. No special hardware.</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Already demonstrated.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The full workflow runs end to end in our prototype.</a:t>
            </a:r>
            <a:endParaRPr lang="en-US" sz="1350" dirty="0"/>
          </a:p>
        </p:txBody>
      </p:sp>
      <p:sp>
        <p:nvSpPr>
          <p:cNvPr id="9" name="Shape 5"/>
          <p:cNvSpPr/>
          <p:nvPr/>
        </p:nvSpPr>
        <p:spPr>
          <a:xfrm>
            <a:off x="4322978" y="1280160"/>
            <a:ext cx="3545738" cy="3429000"/>
          </a:xfrm>
          <a:prstGeom prst="rect">
            <a:avLst/>
          </a:prstGeom>
          <a:solidFill>
            <a:srgbClr val="EEF3F6"/>
          </a:solidFill>
          <a:ln w="12700">
            <a:solidFill>
              <a:srgbClr val="EEF3F6"/>
            </a:solidFill>
            <a:prstDash val="solid"/>
          </a:ln>
        </p:spPr>
      </p:sp>
      <p:sp>
        <p:nvSpPr>
          <p:cNvPr id="10" name="Shape 6"/>
          <p:cNvSpPr/>
          <p:nvPr/>
        </p:nvSpPr>
        <p:spPr>
          <a:xfrm>
            <a:off x="4551578" y="1481328"/>
            <a:ext cx="420624" cy="420624"/>
          </a:xfrm>
          <a:prstGeom prst="ellipse">
            <a:avLst/>
          </a:prstGeom>
          <a:solidFill>
            <a:srgbClr val="0F766E"/>
          </a:solidFill>
          <a:ln w="12700">
            <a:solidFill>
              <a:srgbClr val="0F766E"/>
            </a:solidFill>
            <a:prstDash val="solid"/>
          </a:ln>
        </p:spPr>
      </p:sp>
      <p:pic>
        <p:nvPicPr>
          <p:cNvPr id="11" name="Image 2" descr="preencoded.png">    </p:cNvPr>
          <p:cNvPicPr>
            <a:picLocks noChangeAspect="1"/>
          </p:cNvPicPr>
          <p:nvPr/>
        </p:nvPicPr>
        <p:blipFill>
          <a:blip r:embed="rId3"/>
          <a:stretch>
            <a:fillRect/>
          </a:stretch>
        </p:blipFill>
        <p:spPr>
          <a:xfrm>
            <a:off x="4656734" y="1586484"/>
            <a:ext cx="210312" cy="210312"/>
          </a:xfrm>
          <a:prstGeom prst="rect">
            <a:avLst/>
          </a:prstGeom>
        </p:spPr>
      </p:pic>
      <p:sp>
        <p:nvSpPr>
          <p:cNvPr id="12" name="Text 7"/>
          <p:cNvSpPr txBox="1"/>
          <p:nvPr/>
        </p:nvSpPr>
        <p:spPr>
          <a:xfrm>
            <a:off x="5100218" y="1481328"/>
            <a:ext cx="2585618" cy="420624"/>
          </a:xfrm>
          <a:prstGeom prst="rect">
            <a:avLst/>
          </a:prstGeom>
          <a:noFill/>
          <a:ln/>
        </p:spPr>
        <p:txBody>
          <a:bodyPr wrap="square" lIns="0" tIns="0" rIns="0" bIns="0" rtlCol="0" anchor="ctr"/>
          <a:lstStyle/>
          <a:p>
            <a:pPr indent="0" marL="0">
              <a:buNone/>
            </a:pPr>
            <a:r>
              <a:rPr lang="en-US" sz="1700" b="1" dirty="0">
                <a:solidFill>
                  <a:srgbClr val="0B1F33"/>
                </a:solidFill>
                <a:latin typeface="Cambria" pitchFamily="34" charset="0"/>
                <a:ea typeface="Cambria" pitchFamily="34" charset="-122"/>
                <a:cs typeface="Cambria" pitchFamily="34" charset="-120"/>
              </a:rPr>
              <a:t>Commercial feasibility</a:t>
            </a:r>
            <a:endParaRPr lang="en-US" sz="1700" dirty="0"/>
          </a:p>
        </p:txBody>
      </p:sp>
      <p:sp>
        <p:nvSpPr>
          <p:cNvPr id="13" name="Text 8"/>
          <p:cNvSpPr txBox="1"/>
          <p:nvPr/>
        </p:nvSpPr>
        <p:spPr>
          <a:xfrm>
            <a:off x="4551578" y="2103120"/>
            <a:ext cx="3088538" cy="2468880"/>
          </a:xfrm>
          <a:prstGeom prst="rect">
            <a:avLst/>
          </a:prstGeom>
          <a:noFill/>
          <a:ln/>
        </p:spPr>
        <p:txBody>
          <a:bodyPr wrap="square" lIns="0" tIns="0" rIns="0" bIns="0" rtlCol="0" anchor="t"/>
          <a:lstStyle/>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Low cost.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Built on existing satellite, AIS and open environmental data.</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Clear buyers.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Coast Guard, ports, maritime and environmental agencies, shipping and insurance firms.</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Revenue.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Government contracts, annual SaaS subscriptions, data-analysis APIs.</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Scales.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From one port to national maritime zones.</a:t>
            </a:r>
            <a:endParaRPr lang="en-US" sz="1350" dirty="0"/>
          </a:p>
        </p:txBody>
      </p:sp>
      <p:sp>
        <p:nvSpPr>
          <p:cNvPr id="14" name="Shape 9"/>
          <p:cNvSpPr/>
          <p:nvPr/>
        </p:nvSpPr>
        <p:spPr>
          <a:xfrm>
            <a:off x="8097317" y="1280160"/>
            <a:ext cx="3545738" cy="3429000"/>
          </a:xfrm>
          <a:prstGeom prst="rect">
            <a:avLst/>
          </a:prstGeom>
          <a:solidFill>
            <a:srgbClr val="EEF3F6"/>
          </a:solidFill>
          <a:ln w="12700">
            <a:solidFill>
              <a:srgbClr val="EEF3F6"/>
            </a:solidFill>
            <a:prstDash val="solid"/>
          </a:ln>
        </p:spPr>
      </p:sp>
      <p:sp>
        <p:nvSpPr>
          <p:cNvPr id="15" name="Shape 10"/>
          <p:cNvSpPr/>
          <p:nvPr/>
        </p:nvSpPr>
        <p:spPr>
          <a:xfrm>
            <a:off x="8325917" y="1481328"/>
            <a:ext cx="420624" cy="420624"/>
          </a:xfrm>
          <a:prstGeom prst="ellipse">
            <a:avLst/>
          </a:prstGeom>
          <a:solidFill>
            <a:srgbClr val="D97706"/>
          </a:solidFill>
          <a:ln w="12700">
            <a:solidFill>
              <a:srgbClr val="D97706"/>
            </a:solidFill>
            <a:prstDash val="solid"/>
          </a:ln>
        </p:spPr>
      </p:sp>
      <p:pic>
        <p:nvPicPr>
          <p:cNvPr id="16" name="Image 3" descr="preencoded.png">    </p:cNvPr>
          <p:cNvPicPr>
            <a:picLocks noChangeAspect="1"/>
          </p:cNvPicPr>
          <p:nvPr/>
        </p:nvPicPr>
        <p:blipFill>
          <a:blip r:embed="rId4"/>
          <a:stretch>
            <a:fillRect/>
          </a:stretch>
        </p:blipFill>
        <p:spPr>
          <a:xfrm>
            <a:off x="8431073" y="1586484"/>
            <a:ext cx="210312" cy="210312"/>
          </a:xfrm>
          <a:prstGeom prst="rect">
            <a:avLst/>
          </a:prstGeom>
        </p:spPr>
      </p:pic>
      <p:sp>
        <p:nvSpPr>
          <p:cNvPr id="17" name="Text 11"/>
          <p:cNvSpPr txBox="1"/>
          <p:nvPr/>
        </p:nvSpPr>
        <p:spPr>
          <a:xfrm>
            <a:off x="8874557" y="1481328"/>
            <a:ext cx="2585618" cy="420624"/>
          </a:xfrm>
          <a:prstGeom prst="rect">
            <a:avLst/>
          </a:prstGeom>
          <a:noFill/>
          <a:ln/>
        </p:spPr>
        <p:txBody>
          <a:bodyPr wrap="square" lIns="0" tIns="0" rIns="0" bIns="0" rtlCol="0" anchor="ctr"/>
          <a:lstStyle/>
          <a:p>
            <a:pPr indent="0" marL="0">
              <a:buNone/>
            </a:pPr>
            <a:r>
              <a:rPr lang="en-US" sz="1700" b="1" dirty="0">
                <a:solidFill>
                  <a:srgbClr val="0B1F33"/>
                </a:solidFill>
                <a:latin typeface="Cambria" pitchFamily="34" charset="0"/>
                <a:ea typeface="Cambria" pitchFamily="34" charset="-122"/>
                <a:cs typeface="Cambria" pitchFamily="34" charset="-120"/>
              </a:rPr>
              <a:t>Challenges &amp; risks</a:t>
            </a:r>
            <a:endParaRPr lang="en-US" sz="1700" dirty="0"/>
          </a:p>
        </p:txBody>
      </p:sp>
      <p:sp>
        <p:nvSpPr>
          <p:cNvPr id="18" name="Text 12"/>
          <p:cNvSpPr txBox="1"/>
          <p:nvPr/>
        </p:nvSpPr>
        <p:spPr>
          <a:xfrm>
            <a:off x="8325917" y="2103120"/>
            <a:ext cx="3088538" cy="2468880"/>
          </a:xfrm>
          <a:prstGeom prst="rect">
            <a:avLst/>
          </a:prstGeom>
          <a:noFill/>
          <a:ln/>
        </p:spPr>
        <p:txBody>
          <a:bodyPr wrap="square" lIns="0" tIns="0" rIns="0" bIns="0" rtlCol="0" anchor="t"/>
          <a:lstStyle/>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Sea look-alikes.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Fuse SAR and EO, and show detection confidence.</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AIS gaps or switched-off transponders.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AIS continuity is part of every score.</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Drift uncertainty.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Report a probable origin zone, never an exact point.</a:t>
            </a:r>
            <a:endParaRPr lang="en-US" sz="1350" dirty="0"/>
          </a:p>
          <a:p>
            <a:pPr indent="0" marL="0">
              <a:spcAft>
                <a:spcPts val="800"/>
              </a:spcAft>
              <a:buNone/>
            </a:pPr>
            <a:r>
              <a:rPr lang="en-US" sz="1350" b="1" dirty="0">
                <a:solidFill>
                  <a:srgbClr val="12283F"/>
                </a:solidFill>
                <a:latin typeface="Calibri" pitchFamily="34" charset="0"/>
                <a:ea typeface="Calibri" pitchFamily="34" charset="-122"/>
                <a:cs typeface="Calibri" pitchFamily="34" charset="-120"/>
              </a:rPr>
              <a:t>Over-reading a score. </a:t>
            </a:r>
            <a:pPr indent="0" marL="0">
              <a:spcAft>
                <a:spcPts val="800"/>
              </a:spcAft>
              <a:buNone/>
            </a:pPr>
            <a:r>
              <a:rPr lang="en-US" sz="1350" dirty="0">
                <a:solidFill>
                  <a:srgbClr val="556677"/>
                </a:solidFill>
                <a:latin typeface="Calibri" pitchFamily="34" charset="0"/>
                <a:ea typeface="Calibri" pitchFamily="34" charset="-122"/>
                <a:cs typeface="Calibri" pitchFamily="34" charset="-120"/>
              </a:rPr>
              <a:t>Framed as investigation support, not proof.</a:t>
            </a:r>
            <a:endParaRPr lang="en-US" sz="1350" dirty="0"/>
          </a:p>
        </p:txBody>
      </p:sp>
      <p:sp>
        <p:nvSpPr>
          <p:cNvPr id="19" name="Text 13"/>
          <p:cNvSpPr txBox="1"/>
          <p:nvPr/>
        </p:nvSpPr>
        <p:spPr>
          <a:xfrm>
            <a:off x="548640" y="4864608"/>
            <a:ext cx="365760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STRATEGY</a:t>
            </a:r>
            <a:endParaRPr lang="en-US" sz="1200" dirty="0"/>
          </a:p>
        </p:txBody>
      </p:sp>
      <p:sp>
        <p:nvSpPr>
          <p:cNvPr id="20" name="Shape 14"/>
          <p:cNvSpPr/>
          <p:nvPr/>
        </p:nvSpPr>
        <p:spPr>
          <a:xfrm>
            <a:off x="548640" y="5166360"/>
            <a:ext cx="2101840" cy="1097280"/>
          </a:xfrm>
          <a:prstGeom prst="rect">
            <a:avLst/>
          </a:prstGeom>
          <a:solidFill>
            <a:srgbClr val="0B1F33"/>
          </a:solidFill>
          <a:ln w="12700">
            <a:solidFill>
              <a:srgbClr val="0B1F33"/>
            </a:solidFill>
            <a:prstDash val="solid"/>
          </a:ln>
        </p:spPr>
      </p:sp>
      <p:sp>
        <p:nvSpPr>
          <p:cNvPr id="21" name="Text 15"/>
          <p:cNvSpPr txBox="1"/>
          <p:nvPr/>
        </p:nvSpPr>
        <p:spPr>
          <a:xfrm>
            <a:off x="685800" y="5230368"/>
            <a:ext cx="1827520" cy="969264"/>
          </a:xfrm>
          <a:prstGeom prst="rect">
            <a:avLst/>
          </a:prstGeom>
          <a:noFill/>
          <a:ln/>
        </p:spPr>
        <p:txBody>
          <a:bodyPr wrap="square" lIns="0" tIns="0" rIns="0" bIns="0" rtlCol="0" anchor="t"/>
          <a:lstStyle/>
          <a:p>
            <a:pPr indent="0" marL="0">
              <a:spcAft>
                <a:spcPts val="200"/>
              </a:spcAft>
              <a:buNone/>
            </a:pPr>
            <a:r>
              <a:rPr lang="en-US" sz="1400" b="1" dirty="0">
                <a:solidFill>
                  <a:srgbClr val="2DD4BF"/>
                </a:solidFill>
                <a:latin typeface="Calibri" pitchFamily="34" charset="0"/>
                <a:ea typeface="Calibri" pitchFamily="34" charset="-122"/>
                <a:cs typeface="Calibri" pitchFamily="34" charset="-120"/>
              </a:rPr>
              <a:t>1  Detect</a:t>
            </a:r>
            <a:endParaRPr lang="en-US" sz="1400" dirty="0"/>
          </a:p>
          <a:p>
            <a:pPr indent="0" marL="0">
              <a:spcAft>
                <a:spcPts val="200"/>
              </a:spcAft>
              <a:buNone/>
            </a:pPr>
            <a:r>
              <a:rPr lang="en-US" sz="1150" dirty="0">
                <a:solidFill>
                  <a:srgbClr val="FFFFFF"/>
                </a:solidFill>
                <a:latin typeface="Calibri" pitchFamily="34" charset="0"/>
                <a:ea typeface="Calibri" pitchFamily="34" charset="-122"/>
                <a:cs typeface="Calibri" pitchFamily="34" charset="-120"/>
              </a:rPr>
              <a:t>SAR and EO imagery plus AI find and measure suspected slicks</a:t>
            </a:r>
            <a:endParaRPr lang="en-US" sz="1400" dirty="0"/>
          </a:p>
        </p:txBody>
      </p:sp>
      <p:sp>
        <p:nvSpPr>
          <p:cNvPr id="22" name="Shape 16"/>
          <p:cNvSpPr/>
          <p:nvPr/>
        </p:nvSpPr>
        <p:spPr>
          <a:xfrm>
            <a:off x="2796784" y="5166360"/>
            <a:ext cx="2101840" cy="1097280"/>
          </a:xfrm>
          <a:prstGeom prst="rect">
            <a:avLst/>
          </a:prstGeom>
          <a:solidFill>
            <a:srgbClr val="0B1F33"/>
          </a:solidFill>
          <a:ln w="12700">
            <a:solidFill>
              <a:srgbClr val="0B1F33"/>
            </a:solidFill>
            <a:prstDash val="solid"/>
          </a:ln>
        </p:spPr>
      </p:sp>
      <p:sp>
        <p:nvSpPr>
          <p:cNvPr id="23" name="Text 17"/>
          <p:cNvSpPr txBox="1"/>
          <p:nvPr/>
        </p:nvSpPr>
        <p:spPr>
          <a:xfrm>
            <a:off x="2933944" y="5230368"/>
            <a:ext cx="1827520" cy="969264"/>
          </a:xfrm>
          <a:prstGeom prst="rect">
            <a:avLst/>
          </a:prstGeom>
          <a:noFill/>
          <a:ln/>
        </p:spPr>
        <p:txBody>
          <a:bodyPr wrap="square" lIns="0" tIns="0" rIns="0" bIns="0" rtlCol="0" anchor="t"/>
          <a:lstStyle/>
          <a:p>
            <a:pPr indent="0" marL="0">
              <a:spcAft>
                <a:spcPts val="200"/>
              </a:spcAft>
              <a:buNone/>
            </a:pPr>
            <a:r>
              <a:rPr lang="en-US" sz="1400" b="1" dirty="0">
                <a:solidFill>
                  <a:srgbClr val="2DD4BF"/>
                </a:solidFill>
                <a:latin typeface="Calibri" pitchFamily="34" charset="0"/>
                <a:ea typeface="Calibri" pitchFamily="34" charset="-122"/>
                <a:cs typeface="Calibri" pitchFamily="34" charset="-120"/>
              </a:rPr>
              <a:t>2  Trace</a:t>
            </a:r>
            <a:endParaRPr lang="en-US" sz="1400" dirty="0"/>
          </a:p>
          <a:p>
            <a:pPr indent="0" marL="0">
              <a:spcAft>
                <a:spcPts val="200"/>
              </a:spcAft>
              <a:buNone/>
            </a:pPr>
            <a:r>
              <a:rPr lang="en-US" sz="1150" dirty="0">
                <a:solidFill>
                  <a:srgbClr val="FFFFFF"/>
                </a:solidFill>
                <a:latin typeface="Calibri" pitchFamily="34" charset="0"/>
                <a:ea typeface="Calibri" pitchFamily="34" charset="-122"/>
                <a:cs typeface="Calibri" pitchFamily="34" charset="-120"/>
              </a:rPr>
              <a:t>Wind and currents drift the slick backward and forward</a:t>
            </a:r>
            <a:endParaRPr lang="en-US" sz="1400" dirty="0"/>
          </a:p>
        </p:txBody>
      </p:sp>
      <p:sp>
        <p:nvSpPr>
          <p:cNvPr id="24" name="Shape 18"/>
          <p:cNvSpPr/>
          <p:nvPr/>
        </p:nvSpPr>
        <p:spPr>
          <a:xfrm>
            <a:off x="5044928" y="5166360"/>
            <a:ext cx="2101840" cy="1097280"/>
          </a:xfrm>
          <a:prstGeom prst="rect">
            <a:avLst/>
          </a:prstGeom>
          <a:solidFill>
            <a:srgbClr val="0B1F33"/>
          </a:solidFill>
          <a:ln w="12700">
            <a:solidFill>
              <a:srgbClr val="0B1F33"/>
            </a:solidFill>
            <a:prstDash val="solid"/>
          </a:ln>
        </p:spPr>
      </p:sp>
      <p:sp>
        <p:nvSpPr>
          <p:cNvPr id="25" name="Text 19"/>
          <p:cNvSpPr txBox="1"/>
          <p:nvPr/>
        </p:nvSpPr>
        <p:spPr>
          <a:xfrm>
            <a:off x="5182088" y="5230368"/>
            <a:ext cx="1827520" cy="969264"/>
          </a:xfrm>
          <a:prstGeom prst="rect">
            <a:avLst/>
          </a:prstGeom>
          <a:noFill/>
          <a:ln/>
        </p:spPr>
        <p:txBody>
          <a:bodyPr wrap="square" lIns="0" tIns="0" rIns="0" bIns="0" rtlCol="0" anchor="t"/>
          <a:lstStyle/>
          <a:p>
            <a:pPr indent="0" marL="0">
              <a:spcAft>
                <a:spcPts val="200"/>
              </a:spcAft>
              <a:buNone/>
            </a:pPr>
            <a:r>
              <a:rPr lang="en-US" sz="1400" b="1" dirty="0">
                <a:solidFill>
                  <a:srgbClr val="2DD4BF"/>
                </a:solidFill>
                <a:latin typeface="Calibri" pitchFamily="34" charset="0"/>
                <a:ea typeface="Calibri" pitchFamily="34" charset="-122"/>
                <a:cs typeface="Calibri" pitchFamily="34" charset="-120"/>
              </a:rPr>
              <a:t>3  Correlate</a:t>
            </a:r>
            <a:endParaRPr lang="en-US" sz="1400" dirty="0"/>
          </a:p>
          <a:p>
            <a:pPr indent="0" marL="0">
              <a:spcAft>
                <a:spcPts val="200"/>
              </a:spcAft>
              <a:buNone/>
            </a:pPr>
            <a:r>
              <a:rPr lang="en-US" sz="1150" dirty="0">
                <a:solidFill>
                  <a:srgbClr val="FFFFFF"/>
                </a:solidFill>
                <a:latin typeface="Calibri" pitchFamily="34" charset="0"/>
                <a:ea typeface="Calibri" pitchFamily="34" charset="-122"/>
                <a:cs typeface="Calibri" pitchFamily="34" charset="-120"/>
              </a:rPr>
              <a:t>Rebuild AIS vessel movements around the origin and time</a:t>
            </a:r>
            <a:endParaRPr lang="en-US" sz="1400" dirty="0"/>
          </a:p>
        </p:txBody>
      </p:sp>
      <p:sp>
        <p:nvSpPr>
          <p:cNvPr id="26" name="Shape 20"/>
          <p:cNvSpPr/>
          <p:nvPr/>
        </p:nvSpPr>
        <p:spPr>
          <a:xfrm>
            <a:off x="7293072" y="5166360"/>
            <a:ext cx="2101840" cy="1097280"/>
          </a:xfrm>
          <a:prstGeom prst="rect">
            <a:avLst/>
          </a:prstGeom>
          <a:solidFill>
            <a:srgbClr val="0B1F33"/>
          </a:solidFill>
          <a:ln w="12700">
            <a:solidFill>
              <a:srgbClr val="0B1F33"/>
            </a:solidFill>
            <a:prstDash val="solid"/>
          </a:ln>
        </p:spPr>
      </p:sp>
      <p:sp>
        <p:nvSpPr>
          <p:cNvPr id="27" name="Text 21"/>
          <p:cNvSpPr txBox="1"/>
          <p:nvPr/>
        </p:nvSpPr>
        <p:spPr>
          <a:xfrm>
            <a:off x="7430232" y="5230368"/>
            <a:ext cx="1827520" cy="969264"/>
          </a:xfrm>
          <a:prstGeom prst="rect">
            <a:avLst/>
          </a:prstGeom>
          <a:noFill/>
          <a:ln/>
        </p:spPr>
        <p:txBody>
          <a:bodyPr wrap="square" lIns="0" tIns="0" rIns="0" bIns="0" rtlCol="0" anchor="t"/>
          <a:lstStyle/>
          <a:p>
            <a:pPr indent="0" marL="0">
              <a:spcAft>
                <a:spcPts val="200"/>
              </a:spcAft>
              <a:buNone/>
            </a:pPr>
            <a:r>
              <a:rPr lang="en-US" sz="1400" b="1" dirty="0">
                <a:solidFill>
                  <a:srgbClr val="2DD4BF"/>
                </a:solidFill>
                <a:latin typeface="Calibri" pitchFamily="34" charset="0"/>
                <a:ea typeface="Calibri" pitchFamily="34" charset="-122"/>
                <a:cs typeface="Calibri" pitchFamily="34" charset="-120"/>
              </a:rPr>
              <a:t>4  Filter &amp; rank</a:t>
            </a:r>
            <a:endParaRPr lang="en-US" sz="1400" dirty="0"/>
          </a:p>
          <a:p>
            <a:pPr indent="0" marL="0">
              <a:spcAft>
                <a:spcPts val="200"/>
              </a:spcAft>
              <a:buNone/>
            </a:pPr>
            <a:r>
              <a:rPr lang="en-US" sz="1150" dirty="0">
                <a:solidFill>
                  <a:srgbClr val="FFFFFF"/>
                </a:solidFill>
                <a:latin typeface="Calibri" pitchFamily="34" charset="0"/>
                <a:ea typeface="Calibri" pitchFamily="34" charset="-122"/>
                <a:cs typeface="Calibri" pitchFamily="34" charset="-120"/>
              </a:rPr>
              <a:t>Drop irrelevant vessels, rank by space, time and track</a:t>
            </a:r>
            <a:endParaRPr lang="en-US" sz="1400" dirty="0"/>
          </a:p>
        </p:txBody>
      </p:sp>
      <p:sp>
        <p:nvSpPr>
          <p:cNvPr id="28" name="Shape 22"/>
          <p:cNvSpPr/>
          <p:nvPr/>
        </p:nvSpPr>
        <p:spPr>
          <a:xfrm>
            <a:off x="9541215" y="5166360"/>
            <a:ext cx="2101840" cy="1097280"/>
          </a:xfrm>
          <a:prstGeom prst="rect">
            <a:avLst/>
          </a:prstGeom>
          <a:solidFill>
            <a:srgbClr val="0B1F33"/>
          </a:solidFill>
          <a:ln w="12700">
            <a:solidFill>
              <a:srgbClr val="0B1F33"/>
            </a:solidFill>
            <a:prstDash val="solid"/>
          </a:ln>
        </p:spPr>
      </p:sp>
      <p:sp>
        <p:nvSpPr>
          <p:cNvPr id="29" name="Text 23"/>
          <p:cNvSpPr txBox="1"/>
          <p:nvPr/>
        </p:nvSpPr>
        <p:spPr>
          <a:xfrm>
            <a:off x="9678375" y="5230368"/>
            <a:ext cx="1827520" cy="969264"/>
          </a:xfrm>
          <a:prstGeom prst="rect">
            <a:avLst/>
          </a:prstGeom>
          <a:noFill/>
          <a:ln/>
        </p:spPr>
        <p:txBody>
          <a:bodyPr wrap="square" lIns="0" tIns="0" rIns="0" bIns="0" rtlCol="0" anchor="t"/>
          <a:lstStyle/>
          <a:p>
            <a:pPr indent="0" marL="0">
              <a:spcAft>
                <a:spcPts val="200"/>
              </a:spcAft>
              <a:buNone/>
            </a:pPr>
            <a:r>
              <a:rPr lang="en-US" sz="1400" b="1" dirty="0">
                <a:solidFill>
                  <a:srgbClr val="2DD4BF"/>
                </a:solidFill>
                <a:latin typeface="Calibri" pitchFamily="34" charset="0"/>
                <a:ea typeface="Calibri" pitchFamily="34" charset="-122"/>
                <a:cs typeface="Calibri" pitchFamily="34" charset="-120"/>
              </a:rPr>
              <a:t>5  Visualize</a:t>
            </a:r>
            <a:endParaRPr lang="en-US" sz="1400" dirty="0"/>
          </a:p>
          <a:p>
            <a:pPr indent="0" marL="0">
              <a:spcAft>
                <a:spcPts val="200"/>
              </a:spcAft>
              <a:buNone/>
            </a:pPr>
            <a:r>
              <a:rPr lang="en-US" sz="1150" dirty="0">
                <a:solidFill>
                  <a:srgbClr val="FFFFFF"/>
                </a:solidFill>
                <a:latin typeface="Calibri" pitchFamily="34" charset="0"/>
                <a:ea typeface="Calibri" pitchFamily="34" charset="-122"/>
                <a:cs typeface="Calibri" pitchFamily="34" charset="-120"/>
              </a:rPr>
              <a:t>One dashboard: spill, drift, origin, tracks, ranking</a:t>
            </a:r>
            <a:endParaRPr lang="en-US" sz="1400" dirty="0"/>
          </a:p>
        </p:txBody>
      </p:sp>
      <p:sp>
        <p:nvSpPr>
          <p:cNvPr id="30" name="Text 24"/>
          <p:cNvSpPr txBox="1"/>
          <p:nvPr/>
        </p:nvSpPr>
        <p:spPr>
          <a:xfrm>
            <a:off x="548640" y="6428232"/>
            <a:ext cx="7315200" cy="274320"/>
          </a:xfrm>
          <a:prstGeom prst="rect">
            <a:avLst/>
          </a:prstGeom>
          <a:noFill/>
          <a:ln/>
        </p:spPr>
        <p:txBody>
          <a:bodyPr wrap="square" lIns="0" tIns="0" rIns="0" bIns="0" rtlCol="0" anchor="ctr"/>
          <a:lstStyle/>
          <a:p>
            <a:pPr indent="0" marL="0">
              <a:buNone/>
            </a:pPr>
            <a:r>
              <a:rPr lang="en-US" sz="1050" dirty="0">
                <a:solidFill>
                  <a:srgbClr val="556677"/>
                </a:solidFill>
                <a:latin typeface="Calibri" pitchFamily="34" charset="0"/>
                <a:ea typeface="Calibri" pitchFamily="34" charset="-122"/>
                <a:cs typeface="Calibri" pitchFamily="34" charset="-120"/>
              </a:rPr>
              <a:t>SMART INDIA HACKATHON 2026   |   SIH26143   |   Team Mindforgue</a:t>
            </a:r>
            <a:endParaRPr lang="en-US" sz="1050" dirty="0"/>
          </a:p>
        </p:txBody>
      </p:sp>
      <p:sp>
        <p:nvSpPr>
          <p:cNvPr id="31" name="Text 25"/>
          <p:cNvSpPr txBox="1"/>
          <p:nvPr/>
        </p:nvSpPr>
        <p:spPr>
          <a:xfrm>
            <a:off x="11094415" y="6428232"/>
            <a:ext cx="548640" cy="274320"/>
          </a:xfrm>
          <a:prstGeom prst="rect">
            <a:avLst/>
          </a:prstGeom>
          <a:noFill/>
          <a:ln/>
        </p:spPr>
        <p:txBody>
          <a:bodyPr wrap="square" lIns="0" tIns="0" rIns="0" bIns="0" rtlCol="0" anchor="ctr"/>
          <a:lstStyle/>
          <a:p>
            <a:pPr algn="r" indent="0" marL="0">
              <a:buNone/>
            </a:pPr>
            <a:r>
              <a:rPr lang="en-US" sz="1050" dirty="0">
                <a:solidFill>
                  <a:srgbClr val="556677"/>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8778240" cy="685800"/>
          </a:xfrm>
          <a:prstGeom prst="rect">
            <a:avLst/>
          </a:prstGeom>
          <a:noFill/>
          <a:ln/>
        </p:spPr>
        <p:txBody>
          <a:bodyPr wrap="square" lIns="0" tIns="0" rIns="0" bIns="0" rtlCol="0" anchor="ctr"/>
          <a:lstStyle/>
          <a:p>
            <a:pPr indent="0" marL="0">
              <a:buNone/>
            </a:pPr>
            <a:r>
              <a:rPr lang="en-US" sz="3200" b="1" dirty="0">
                <a:solidFill>
                  <a:srgbClr val="0B1F33"/>
                </a:solidFill>
                <a:latin typeface="Cambria" pitchFamily="34" charset="0"/>
                <a:ea typeface="Cambria" pitchFamily="34" charset="-122"/>
                <a:cs typeface="Cambria" pitchFamily="34" charset="-120"/>
              </a:rPr>
              <a:t>Impact and Benefits</a:t>
            </a:r>
            <a:endParaRPr lang="en-US" sz="3200" dirty="0"/>
          </a:p>
        </p:txBody>
      </p:sp>
      <p:pic>
        <p:nvPicPr>
          <p:cNvPr id="3" name="Image 0" descr="C:/Users/akile/AppData/Local/Temp/claude/c--Users-akile-OneDrive-Desktop-Backend-Engineering-New-folder/8920ce60-01cf-4ad7-8231-4512026fc533/scratchpad/deck/orig/ppt/media/image4.png">    </p:cNvPr>
          <p:cNvPicPr>
            <a:picLocks noChangeAspect="1"/>
          </p:cNvPicPr>
          <p:nvPr/>
        </p:nvPicPr>
        <p:blipFill>
          <a:blip r:embed="rId1"/>
          <a:stretch>
            <a:fillRect/>
          </a:stretch>
        </p:blipFill>
        <p:spPr>
          <a:xfrm>
            <a:off x="10088575" y="274320"/>
            <a:ext cx="1554480" cy="734325"/>
          </a:xfrm>
          <a:prstGeom prst="rect">
            <a:avLst/>
          </a:prstGeom>
        </p:spPr>
      </p:pic>
      <p:sp>
        <p:nvSpPr>
          <p:cNvPr id="4" name="Text 1"/>
          <p:cNvSpPr txBox="1"/>
          <p:nvPr/>
        </p:nvSpPr>
        <p:spPr>
          <a:xfrm>
            <a:off x="548640" y="1280160"/>
            <a:ext cx="5486400"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DIRECT IMPACT ON TARGET USERS</a:t>
            </a:r>
            <a:endParaRPr lang="en-US" sz="1200" dirty="0"/>
          </a:p>
        </p:txBody>
      </p:sp>
      <p:sp>
        <p:nvSpPr>
          <p:cNvPr id="5" name="Shape 2"/>
          <p:cNvSpPr/>
          <p:nvPr/>
        </p:nvSpPr>
        <p:spPr>
          <a:xfrm>
            <a:off x="548640" y="1691640"/>
            <a:ext cx="457200" cy="457200"/>
          </a:xfrm>
          <a:prstGeom prst="ellipse">
            <a:avLst/>
          </a:prstGeom>
          <a:solidFill>
            <a:srgbClr val="0F766E"/>
          </a:solidFill>
          <a:ln w="12700">
            <a:solidFill>
              <a:srgbClr val="0F766E"/>
            </a:solidFill>
            <a:prstDash val="solid"/>
          </a:ln>
        </p:spPr>
      </p:sp>
      <p:pic>
        <p:nvPicPr>
          <p:cNvPr id="6" name="Image 1" descr="preencoded.png">    </p:cNvPr>
          <p:cNvPicPr>
            <a:picLocks noChangeAspect="1"/>
          </p:cNvPicPr>
          <p:nvPr/>
        </p:nvPicPr>
        <p:blipFill>
          <a:blip r:embed="rId2"/>
          <a:stretch>
            <a:fillRect/>
          </a:stretch>
        </p:blipFill>
        <p:spPr>
          <a:xfrm>
            <a:off x="662940" y="1805940"/>
            <a:ext cx="228600" cy="228600"/>
          </a:xfrm>
          <a:prstGeom prst="rect">
            <a:avLst/>
          </a:prstGeom>
        </p:spPr>
      </p:pic>
      <p:sp>
        <p:nvSpPr>
          <p:cNvPr id="7" name="Text 3"/>
          <p:cNvSpPr txBox="1"/>
          <p:nvPr/>
        </p:nvSpPr>
        <p:spPr>
          <a:xfrm>
            <a:off x="1170432" y="1655064"/>
            <a:ext cx="4590288" cy="82296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Coast Guard &amp; maritime authorities</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Faster detection, source tracing and vessel screening</a:t>
            </a:r>
            <a:endParaRPr lang="en-US" sz="1400" dirty="0"/>
          </a:p>
        </p:txBody>
      </p:sp>
      <p:sp>
        <p:nvSpPr>
          <p:cNvPr id="8" name="Shape 4"/>
          <p:cNvSpPr/>
          <p:nvPr/>
        </p:nvSpPr>
        <p:spPr>
          <a:xfrm>
            <a:off x="548640" y="2624328"/>
            <a:ext cx="457200" cy="457200"/>
          </a:xfrm>
          <a:prstGeom prst="ellipse">
            <a:avLst/>
          </a:prstGeom>
          <a:solidFill>
            <a:srgbClr val="0F766E"/>
          </a:solidFill>
          <a:ln w="12700">
            <a:solidFill>
              <a:srgbClr val="0F766E"/>
            </a:solidFill>
            <a:prstDash val="solid"/>
          </a:ln>
        </p:spPr>
      </p:sp>
      <p:pic>
        <p:nvPicPr>
          <p:cNvPr id="9" name="Image 2" descr="preencoded.png">    </p:cNvPr>
          <p:cNvPicPr>
            <a:picLocks noChangeAspect="1"/>
          </p:cNvPicPr>
          <p:nvPr/>
        </p:nvPicPr>
        <p:blipFill>
          <a:blip r:embed="rId3"/>
          <a:stretch>
            <a:fillRect/>
          </a:stretch>
        </p:blipFill>
        <p:spPr>
          <a:xfrm>
            <a:off x="662940" y="2738628"/>
            <a:ext cx="228600" cy="228600"/>
          </a:xfrm>
          <a:prstGeom prst="rect">
            <a:avLst/>
          </a:prstGeom>
        </p:spPr>
      </p:pic>
      <p:sp>
        <p:nvSpPr>
          <p:cNvPr id="10" name="Text 5"/>
          <p:cNvSpPr txBox="1"/>
          <p:nvPr/>
        </p:nvSpPr>
        <p:spPr>
          <a:xfrm>
            <a:off x="1170432" y="2587752"/>
            <a:ext cx="4590288" cy="82296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Environmental agencies</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Spill extent, drift path and probable origin for quicker response</a:t>
            </a:r>
            <a:endParaRPr lang="en-US" sz="1400" dirty="0"/>
          </a:p>
        </p:txBody>
      </p:sp>
      <p:sp>
        <p:nvSpPr>
          <p:cNvPr id="11" name="Shape 6"/>
          <p:cNvSpPr/>
          <p:nvPr/>
        </p:nvSpPr>
        <p:spPr>
          <a:xfrm>
            <a:off x="548640" y="3557016"/>
            <a:ext cx="457200" cy="457200"/>
          </a:xfrm>
          <a:prstGeom prst="ellipse">
            <a:avLst/>
          </a:prstGeom>
          <a:solidFill>
            <a:srgbClr val="0F766E"/>
          </a:solidFill>
          <a:ln w="12700">
            <a:solidFill>
              <a:srgbClr val="0F766E"/>
            </a:solidFill>
            <a:prstDash val="solid"/>
          </a:ln>
        </p:spPr>
      </p:sp>
      <p:pic>
        <p:nvPicPr>
          <p:cNvPr id="12" name="Image 3" descr="preencoded.png">    </p:cNvPr>
          <p:cNvPicPr>
            <a:picLocks noChangeAspect="1"/>
          </p:cNvPicPr>
          <p:nvPr/>
        </p:nvPicPr>
        <p:blipFill>
          <a:blip r:embed="rId4"/>
          <a:stretch>
            <a:fillRect/>
          </a:stretch>
        </p:blipFill>
        <p:spPr>
          <a:xfrm>
            <a:off x="662940" y="3671316"/>
            <a:ext cx="228600" cy="228600"/>
          </a:xfrm>
          <a:prstGeom prst="rect">
            <a:avLst/>
          </a:prstGeom>
        </p:spPr>
      </p:pic>
      <p:sp>
        <p:nvSpPr>
          <p:cNvPr id="13" name="Text 7"/>
          <p:cNvSpPr txBox="1"/>
          <p:nvPr/>
        </p:nvSpPr>
        <p:spPr>
          <a:xfrm>
            <a:off x="1170432" y="3520440"/>
            <a:ext cx="4590288" cy="82296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Ports &amp; shipping authorities</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Watch vessel movements with less manual checking</a:t>
            </a:r>
            <a:endParaRPr lang="en-US" sz="1400" dirty="0"/>
          </a:p>
        </p:txBody>
      </p:sp>
      <p:sp>
        <p:nvSpPr>
          <p:cNvPr id="14" name="Shape 8"/>
          <p:cNvSpPr/>
          <p:nvPr/>
        </p:nvSpPr>
        <p:spPr>
          <a:xfrm>
            <a:off x="548640" y="4489704"/>
            <a:ext cx="457200" cy="457200"/>
          </a:xfrm>
          <a:prstGeom prst="ellipse">
            <a:avLst/>
          </a:prstGeom>
          <a:solidFill>
            <a:srgbClr val="0F766E"/>
          </a:solidFill>
          <a:ln w="12700">
            <a:solidFill>
              <a:srgbClr val="0F766E"/>
            </a:solidFill>
            <a:prstDash val="solid"/>
          </a:ln>
        </p:spPr>
      </p:sp>
      <p:pic>
        <p:nvPicPr>
          <p:cNvPr id="15" name="Image 4" descr="preencoded.png">    </p:cNvPr>
          <p:cNvPicPr>
            <a:picLocks noChangeAspect="1"/>
          </p:cNvPicPr>
          <p:nvPr/>
        </p:nvPicPr>
        <p:blipFill>
          <a:blip r:embed="rId5"/>
          <a:stretch>
            <a:fillRect/>
          </a:stretch>
        </p:blipFill>
        <p:spPr>
          <a:xfrm>
            <a:off x="662940" y="4604004"/>
            <a:ext cx="228600" cy="228600"/>
          </a:xfrm>
          <a:prstGeom prst="rect">
            <a:avLst/>
          </a:prstGeom>
        </p:spPr>
      </p:pic>
      <p:sp>
        <p:nvSpPr>
          <p:cNvPr id="16" name="Text 9"/>
          <p:cNvSpPr txBox="1"/>
          <p:nvPr/>
        </p:nvSpPr>
        <p:spPr>
          <a:xfrm>
            <a:off x="1170432" y="4453128"/>
            <a:ext cx="4590288" cy="82296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Coastal communities</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Quicker action protects fisheries, beaches and coasts</a:t>
            </a:r>
            <a:endParaRPr lang="en-US" sz="1400" dirty="0"/>
          </a:p>
        </p:txBody>
      </p:sp>
      <p:sp>
        <p:nvSpPr>
          <p:cNvPr id="17" name="Shape 10"/>
          <p:cNvSpPr/>
          <p:nvPr/>
        </p:nvSpPr>
        <p:spPr>
          <a:xfrm>
            <a:off x="548640" y="5422392"/>
            <a:ext cx="457200" cy="457200"/>
          </a:xfrm>
          <a:prstGeom prst="ellipse">
            <a:avLst/>
          </a:prstGeom>
          <a:solidFill>
            <a:srgbClr val="0F766E"/>
          </a:solidFill>
          <a:ln w="12700">
            <a:solidFill>
              <a:srgbClr val="0F766E"/>
            </a:solidFill>
            <a:prstDash val="solid"/>
          </a:ln>
        </p:spPr>
      </p:sp>
      <p:pic>
        <p:nvPicPr>
          <p:cNvPr id="18" name="Image 5" descr="preencoded.png">    </p:cNvPr>
          <p:cNvPicPr>
            <a:picLocks noChangeAspect="1"/>
          </p:cNvPicPr>
          <p:nvPr/>
        </p:nvPicPr>
        <p:blipFill>
          <a:blip r:embed="rId6"/>
          <a:stretch>
            <a:fillRect/>
          </a:stretch>
        </p:blipFill>
        <p:spPr>
          <a:xfrm>
            <a:off x="662940" y="5536692"/>
            <a:ext cx="228600" cy="228600"/>
          </a:xfrm>
          <a:prstGeom prst="rect">
            <a:avLst/>
          </a:prstGeom>
        </p:spPr>
      </p:pic>
      <p:sp>
        <p:nvSpPr>
          <p:cNvPr id="19" name="Text 11"/>
          <p:cNvSpPr txBox="1"/>
          <p:nvPr/>
        </p:nvSpPr>
        <p:spPr>
          <a:xfrm>
            <a:off x="1170432" y="5385816"/>
            <a:ext cx="4590288" cy="822960"/>
          </a:xfrm>
          <a:prstGeom prst="rect">
            <a:avLst/>
          </a:prstGeom>
          <a:noFill/>
          <a:ln/>
        </p:spPr>
        <p:txBody>
          <a:bodyPr wrap="square" lIns="0" tIns="0" rIns="0" bIns="0" rtlCol="0" anchor="t"/>
          <a:lstStyle/>
          <a:p>
            <a:pPr indent="0" marL="0">
              <a:spcAft>
                <a:spcPts val="100"/>
              </a:spcAft>
              <a:buNone/>
            </a:pPr>
            <a:r>
              <a:rPr lang="en-US" sz="1400" b="1" dirty="0">
                <a:solidFill>
                  <a:srgbClr val="12283F"/>
                </a:solidFill>
                <a:latin typeface="Calibri" pitchFamily="34" charset="0"/>
                <a:ea typeface="Calibri" pitchFamily="34" charset="-122"/>
                <a:cs typeface="Calibri" pitchFamily="34" charset="-120"/>
              </a:rPr>
              <a:t>Investigation &amp; regulatory teams</a:t>
            </a:r>
            <a:endParaRPr lang="en-US" sz="1400" dirty="0"/>
          </a:p>
          <a:p>
            <a:pPr indent="0" marL="0">
              <a:spcAft>
                <a:spcPts val="100"/>
              </a:spcAft>
              <a:buNone/>
            </a:pPr>
            <a:r>
              <a:rPr lang="en-US" sz="1300" dirty="0">
                <a:solidFill>
                  <a:srgbClr val="556677"/>
                </a:solidFill>
                <a:latin typeface="Calibri" pitchFamily="34" charset="0"/>
                <a:ea typeface="Calibri" pitchFamily="34" charset="-122"/>
                <a:cs typeface="Calibri" pitchFamily="34" charset="-120"/>
              </a:rPr>
              <a:t>Traceable evidence and standard digital reports</a:t>
            </a:r>
            <a:endParaRPr lang="en-US" sz="1400" dirty="0"/>
          </a:p>
        </p:txBody>
      </p:sp>
      <p:sp>
        <p:nvSpPr>
          <p:cNvPr id="20" name="Shape 12"/>
          <p:cNvSpPr/>
          <p:nvPr/>
        </p:nvSpPr>
        <p:spPr>
          <a:xfrm>
            <a:off x="6263640" y="1280160"/>
            <a:ext cx="5379415" cy="1600200"/>
          </a:xfrm>
          <a:prstGeom prst="rect">
            <a:avLst/>
          </a:prstGeom>
          <a:solidFill>
            <a:srgbClr val="0B1F33"/>
          </a:solidFill>
          <a:ln w="12700">
            <a:solidFill>
              <a:srgbClr val="0B1F33"/>
            </a:solidFill>
            <a:prstDash val="solid"/>
          </a:ln>
        </p:spPr>
      </p:sp>
      <p:sp>
        <p:nvSpPr>
          <p:cNvPr id="21" name="Text 13"/>
          <p:cNvSpPr txBox="1"/>
          <p:nvPr/>
        </p:nvSpPr>
        <p:spPr>
          <a:xfrm>
            <a:off x="6446520" y="1417320"/>
            <a:ext cx="1518818" cy="640080"/>
          </a:xfrm>
          <a:prstGeom prst="rect">
            <a:avLst/>
          </a:prstGeom>
          <a:noFill/>
          <a:ln/>
        </p:spPr>
        <p:txBody>
          <a:bodyPr wrap="square" lIns="0" tIns="0" rIns="0" bIns="0" rtlCol="0" anchor="ctr"/>
          <a:lstStyle/>
          <a:p>
            <a:pPr indent="0" marL="0">
              <a:buNone/>
            </a:pPr>
            <a:r>
              <a:rPr lang="en-US" sz="2800" b="1" dirty="0">
                <a:solidFill>
                  <a:srgbClr val="2DD4BF"/>
                </a:solidFill>
                <a:latin typeface="Cambria" pitchFamily="34" charset="0"/>
                <a:ea typeface="Cambria" pitchFamily="34" charset="-122"/>
                <a:cs typeface="Cambria" pitchFamily="34" charset="-120"/>
              </a:rPr>
              <a:t>94%</a:t>
            </a:r>
            <a:endParaRPr lang="en-US" sz="2800" dirty="0"/>
          </a:p>
        </p:txBody>
      </p:sp>
      <p:sp>
        <p:nvSpPr>
          <p:cNvPr id="22" name="Text 14"/>
          <p:cNvSpPr txBox="1"/>
          <p:nvPr/>
        </p:nvSpPr>
        <p:spPr>
          <a:xfrm>
            <a:off x="6446520" y="2057400"/>
            <a:ext cx="1427378" cy="5029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slick detection confidence</a:t>
            </a:r>
            <a:endParaRPr lang="en-US" sz="1200" dirty="0"/>
          </a:p>
        </p:txBody>
      </p:sp>
      <p:sp>
        <p:nvSpPr>
          <p:cNvPr id="23" name="Text 15"/>
          <p:cNvSpPr txBox="1"/>
          <p:nvPr/>
        </p:nvSpPr>
        <p:spPr>
          <a:xfrm>
            <a:off x="8239658" y="1417320"/>
            <a:ext cx="1518818" cy="640080"/>
          </a:xfrm>
          <a:prstGeom prst="rect">
            <a:avLst/>
          </a:prstGeom>
          <a:noFill/>
          <a:ln/>
        </p:spPr>
        <p:txBody>
          <a:bodyPr wrap="square" lIns="0" tIns="0" rIns="0" bIns="0" rtlCol="0" anchor="ctr"/>
          <a:lstStyle/>
          <a:p>
            <a:pPr indent="0" marL="0">
              <a:buNone/>
            </a:pPr>
            <a:r>
              <a:rPr lang="en-US" sz="2800" b="1" dirty="0">
                <a:solidFill>
                  <a:srgbClr val="2DD4BF"/>
                </a:solidFill>
                <a:latin typeface="Cambria" pitchFamily="34" charset="0"/>
                <a:ea typeface="Cambria" pitchFamily="34" charset="-122"/>
                <a:cs typeface="Cambria" pitchFamily="34" charset="-120"/>
              </a:rPr>
              <a:t>11 to 3</a:t>
            </a:r>
            <a:endParaRPr lang="en-US" sz="2800" dirty="0"/>
          </a:p>
        </p:txBody>
      </p:sp>
      <p:sp>
        <p:nvSpPr>
          <p:cNvPr id="24" name="Text 16"/>
          <p:cNvSpPr txBox="1"/>
          <p:nvPr/>
        </p:nvSpPr>
        <p:spPr>
          <a:xfrm>
            <a:off x="8239658" y="2057400"/>
            <a:ext cx="1427378" cy="5029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vessels screened down to ranked candidates</a:t>
            </a:r>
            <a:endParaRPr lang="en-US" sz="1200" dirty="0"/>
          </a:p>
        </p:txBody>
      </p:sp>
      <p:sp>
        <p:nvSpPr>
          <p:cNvPr id="25" name="Text 17"/>
          <p:cNvSpPr txBox="1"/>
          <p:nvPr/>
        </p:nvSpPr>
        <p:spPr>
          <a:xfrm>
            <a:off x="10032797" y="1417320"/>
            <a:ext cx="1518818" cy="640080"/>
          </a:xfrm>
          <a:prstGeom prst="rect">
            <a:avLst/>
          </a:prstGeom>
          <a:noFill/>
          <a:ln/>
        </p:spPr>
        <p:txBody>
          <a:bodyPr wrap="square" lIns="0" tIns="0" rIns="0" bIns="0" rtlCol="0" anchor="ctr"/>
          <a:lstStyle/>
          <a:p>
            <a:pPr indent="0" marL="0">
              <a:buNone/>
            </a:pPr>
            <a:r>
              <a:rPr lang="en-US" sz="2800" b="1" dirty="0">
                <a:solidFill>
                  <a:srgbClr val="2DD4BF"/>
                </a:solidFill>
                <a:latin typeface="Cambria" pitchFamily="34" charset="0"/>
                <a:ea typeface="Cambria" pitchFamily="34" charset="-122"/>
                <a:cs typeface="Cambria" pitchFamily="34" charset="-120"/>
              </a:rPr>
              <a:t>87 / 100</a:t>
            </a:r>
            <a:endParaRPr lang="en-US" sz="2800" dirty="0"/>
          </a:p>
        </p:txBody>
      </p:sp>
      <p:sp>
        <p:nvSpPr>
          <p:cNvPr id="26" name="Text 18"/>
          <p:cNvSpPr txBox="1"/>
          <p:nvPr/>
        </p:nvSpPr>
        <p:spPr>
          <a:xfrm>
            <a:off x="10032797" y="2057400"/>
            <a:ext cx="1427378" cy="5029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top candidate attribution score</a:t>
            </a:r>
            <a:endParaRPr lang="en-US" sz="1200" dirty="0"/>
          </a:p>
        </p:txBody>
      </p:sp>
      <p:sp>
        <p:nvSpPr>
          <p:cNvPr id="27" name="Text 19"/>
          <p:cNvSpPr txBox="1"/>
          <p:nvPr/>
        </p:nvSpPr>
        <p:spPr>
          <a:xfrm>
            <a:off x="6446520" y="2542032"/>
            <a:ext cx="5013655" cy="256032"/>
          </a:xfrm>
          <a:prstGeom prst="rect">
            <a:avLst/>
          </a:prstGeom>
          <a:noFill/>
          <a:ln/>
        </p:spPr>
        <p:txBody>
          <a:bodyPr wrap="square" lIns="0" tIns="0" rIns="0" bIns="0" rtlCol="0" anchor="ctr"/>
          <a:lstStyle/>
          <a:p>
            <a:pPr indent="0" marL="0">
              <a:buNone/>
            </a:pPr>
            <a:r>
              <a:rPr lang="en-US" sz="1100" i="1" dirty="0">
                <a:solidFill>
                  <a:srgbClr val="C7D3DE"/>
                </a:solidFill>
                <a:latin typeface="Calibri" pitchFamily="34" charset="0"/>
                <a:ea typeface="Calibri" pitchFamily="34" charset="-122"/>
                <a:cs typeface="Calibri" pitchFamily="34" charset="-120"/>
              </a:rPr>
              <a:t>Prototype demo case OS-1042, synthetic data</a:t>
            </a:r>
            <a:endParaRPr lang="en-US" sz="1100" dirty="0"/>
          </a:p>
        </p:txBody>
      </p:sp>
      <p:sp>
        <p:nvSpPr>
          <p:cNvPr id="28" name="Text 20"/>
          <p:cNvSpPr txBox="1"/>
          <p:nvPr/>
        </p:nvSpPr>
        <p:spPr>
          <a:xfrm>
            <a:off x="6263640" y="3200400"/>
            <a:ext cx="2529688" cy="274320"/>
          </a:xfrm>
          <a:prstGeom prst="rect">
            <a:avLst/>
          </a:prstGeom>
          <a:noFill/>
          <a:ln/>
        </p:spPr>
        <p:txBody>
          <a:bodyPr wrap="square" lIns="0" tIns="0" rIns="0" bIns="0" rtlCol="0" anchor="ctr"/>
          <a:lstStyle/>
          <a:p>
            <a:pPr indent="0" marL="0">
              <a:buNone/>
            </a:pPr>
            <a:r>
              <a:rPr lang="en-US" sz="1200" b="1" spc="200" kern="0" dirty="0">
                <a:solidFill>
                  <a:srgbClr val="0F766E"/>
                </a:solidFill>
                <a:latin typeface="Calibri" pitchFamily="34" charset="0"/>
                <a:ea typeface="Calibri" pitchFamily="34" charset="-122"/>
                <a:cs typeface="Calibri" pitchFamily="34" charset="-120"/>
              </a:rPr>
              <a:t>STRATEGIC IMPACT</a:t>
            </a:r>
            <a:endParaRPr lang="en-US" sz="1200" dirty="0"/>
          </a:p>
        </p:txBody>
      </p:sp>
      <p:sp>
        <p:nvSpPr>
          <p:cNvPr id="29" name="Text 21"/>
          <p:cNvSpPr txBox="1"/>
          <p:nvPr/>
        </p:nvSpPr>
        <p:spPr>
          <a:xfrm>
            <a:off x="6263640" y="3566160"/>
            <a:ext cx="2529688" cy="2697480"/>
          </a:xfrm>
          <a:prstGeom prst="rect">
            <a:avLst/>
          </a:prstGeom>
          <a:noFill/>
          <a:ln/>
        </p:spPr>
        <p:txBody>
          <a:bodyPr wrap="square" lIns="0" tIns="0" rIns="0" bIns="0" rtlCol="0" anchor="t"/>
          <a:lstStyle/>
          <a:p>
            <a:pPr indent="0" marL="0">
              <a:spcAft>
                <a:spcPts val="800"/>
              </a:spcAft>
              <a:buNone/>
            </a:pPr>
            <a:r>
              <a:rPr lang="en-US" sz="1300" b="1" dirty="0">
                <a:solidFill>
                  <a:srgbClr val="12283F"/>
                </a:solidFill>
                <a:latin typeface="Calibri" pitchFamily="34" charset="0"/>
                <a:ea typeface="Calibri" pitchFamily="34" charset="-122"/>
                <a:cs typeface="Calibri" pitchFamily="34" charset="-120"/>
              </a:rPr>
              <a:t>Faster response. </a:t>
            </a:r>
            <a:pPr indent="0" marL="0">
              <a:spcAft>
                <a:spcPts val="800"/>
              </a:spcAft>
              <a:buNone/>
            </a:pPr>
            <a:r>
              <a:rPr lang="en-US" sz="1300" dirty="0">
                <a:solidFill>
                  <a:srgbClr val="556677"/>
                </a:solidFill>
                <a:latin typeface="Calibri" pitchFamily="34" charset="0"/>
                <a:ea typeface="Calibri" pitchFamily="34" charset="-122"/>
                <a:cs typeface="Calibri" pitchFamily="34" charset="-120"/>
              </a:rPr>
              <a:t>Early detection and drift tracking for quick containment.</a:t>
            </a:r>
            <a:endParaRPr lang="en-US" sz="1300" dirty="0"/>
          </a:p>
          <a:p>
            <a:pPr indent="0" marL="0">
              <a:spcAft>
                <a:spcPts val="800"/>
              </a:spcAft>
              <a:buNone/>
            </a:pPr>
            <a:r>
              <a:rPr lang="en-US" sz="1300" b="1" dirty="0">
                <a:solidFill>
                  <a:srgbClr val="12283F"/>
                </a:solidFill>
                <a:latin typeface="Calibri" pitchFamily="34" charset="0"/>
                <a:ea typeface="Calibri" pitchFamily="34" charset="-122"/>
                <a:cs typeface="Calibri" pitchFamily="34" charset="-120"/>
              </a:rPr>
              <a:t>One intelligence view. </a:t>
            </a:r>
            <a:pPr indent="0" marL="0">
              <a:spcAft>
                <a:spcPts val="800"/>
              </a:spcAft>
              <a:buNone/>
            </a:pPr>
            <a:r>
              <a:rPr lang="en-US" sz="1300" dirty="0">
                <a:solidFill>
                  <a:srgbClr val="556677"/>
                </a:solidFill>
                <a:latin typeface="Calibri" pitchFamily="34" charset="0"/>
                <a:ea typeface="Calibri" pitchFamily="34" charset="-122"/>
                <a:cs typeface="Calibri" pitchFamily="34" charset="-120"/>
              </a:rPr>
              <a:t>Satellite, AIS, ocean and weather data together.</a:t>
            </a:r>
            <a:endParaRPr lang="en-US" sz="1300" dirty="0"/>
          </a:p>
          <a:p>
            <a:pPr indent="0" marL="0">
              <a:spcAft>
                <a:spcPts val="800"/>
              </a:spcAft>
              <a:buNone/>
            </a:pPr>
            <a:r>
              <a:rPr lang="en-US" sz="1300" b="1" dirty="0">
                <a:solidFill>
                  <a:srgbClr val="12283F"/>
                </a:solidFill>
                <a:latin typeface="Calibri" pitchFamily="34" charset="0"/>
                <a:ea typeface="Calibri" pitchFamily="34" charset="-122"/>
                <a:cs typeface="Calibri" pitchFamily="34" charset="-120"/>
              </a:rPr>
              <a:t>Accountability. </a:t>
            </a:r>
            <a:pPr indent="0" marL="0">
              <a:spcAft>
                <a:spcPts val="800"/>
              </a:spcAft>
              <a:buNone/>
            </a:pPr>
            <a:r>
              <a:rPr lang="en-US" sz="1300" dirty="0">
                <a:solidFill>
                  <a:srgbClr val="556677"/>
                </a:solidFill>
                <a:latin typeface="Calibri" pitchFamily="34" charset="0"/>
                <a:ea typeface="Calibri" pitchFamily="34" charset="-122"/>
                <a:cs typeface="Calibri" pitchFamily="34" charset="-120"/>
              </a:rPr>
              <a:t>Space-and-time evidence behind every candidate.</a:t>
            </a:r>
            <a:endParaRPr lang="en-US" sz="1300" dirty="0"/>
          </a:p>
          <a:p>
            <a:pPr indent="0" marL="0">
              <a:spcAft>
                <a:spcPts val="800"/>
              </a:spcAft>
              <a:buNone/>
            </a:pPr>
            <a:r>
              <a:rPr lang="en-US" sz="1300" b="1" dirty="0">
                <a:solidFill>
                  <a:srgbClr val="12283F"/>
                </a:solidFill>
                <a:latin typeface="Calibri" pitchFamily="34" charset="0"/>
                <a:ea typeface="Calibri" pitchFamily="34" charset="-122"/>
                <a:cs typeface="Calibri" pitchFamily="34" charset="-120"/>
              </a:rPr>
              <a:t>Scalable. </a:t>
            </a:r>
            <a:pPr indent="0" marL="0">
              <a:spcAft>
                <a:spcPts val="800"/>
              </a:spcAft>
              <a:buNone/>
            </a:pPr>
            <a:r>
              <a:rPr lang="en-US" sz="1300" dirty="0">
                <a:solidFill>
                  <a:srgbClr val="556677"/>
                </a:solidFill>
                <a:latin typeface="Calibri" pitchFamily="34" charset="0"/>
                <a:ea typeface="Calibri" pitchFamily="34" charset="-122"/>
                <a:cs typeface="Calibri" pitchFamily="34" charset="-120"/>
              </a:rPr>
              <a:t>Regional surveillance up to national monitoring.</a:t>
            </a:r>
            <a:endParaRPr lang="en-US" sz="1300" dirty="0"/>
          </a:p>
        </p:txBody>
      </p:sp>
      <p:sp>
        <p:nvSpPr>
          <p:cNvPr id="30" name="Text 22"/>
          <p:cNvSpPr txBox="1"/>
          <p:nvPr/>
        </p:nvSpPr>
        <p:spPr>
          <a:xfrm>
            <a:off x="9113368" y="3200400"/>
            <a:ext cx="2529688" cy="274320"/>
          </a:xfrm>
          <a:prstGeom prst="rect">
            <a:avLst/>
          </a:prstGeom>
          <a:noFill/>
          <a:ln/>
        </p:spPr>
        <p:txBody>
          <a:bodyPr wrap="square" lIns="0" tIns="0" rIns="0" bIns="0" rtlCol="0" anchor="ctr"/>
          <a:lstStyle/>
          <a:p>
            <a:pPr indent="0" marL="0">
              <a:buNone/>
            </a:pPr>
            <a:r>
              <a:rPr lang="en-US" sz="1200" b="1" spc="200" kern="0" dirty="0">
                <a:solidFill>
                  <a:srgbClr val="D97706"/>
                </a:solidFill>
                <a:latin typeface="Calibri" pitchFamily="34" charset="0"/>
                <a:ea typeface="Calibri" pitchFamily="34" charset="-122"/>
                <a:cs typeface="Calibri" pitchFamily="34" charset="-120"/>
              </a:rPr>
              <a:t>SOCIAL &amp; ECONOMIC</a:t>
            </a:r>
            <a:endParaRPr lang="en-US" sz="1200" dirty="0"/>
          </a:p>
        </p:txBody>
      </p:sp>
      <p:sp>
        <p:nvSpPr>
          <p:cNvPr id="31" name="Text 23"/>
          <p:cNvSpPr txBox="1"/>
          <p:nvPr/>
        </p:nvSpPr>
        <p:spPr>
          <a:xfrm>
            <a:off x="9113368" y="3566160"/>
            <a:ext cx="2529688" cy="2697480"/>
          </a:xfrm>
          <a:prstGeom prst="rect">
            <a:avLst/>
          </a:prstGeom>
          <a:noFill/>
          <a:ln/>
        </p:spPr>
        <p:txBody>
          <a:bodyPr wrap="square" lIns="0" tIns="0" rIns="0" bIns="0" rtlCol="0" anchor="t"/>
          <a:lstStyle/>
          <a:p>
            <a:pPr indent="0" marL="0">
              <a:spcAft>
                <a:spcPts val="800"/>
              </a:spcAft>
              <a:buNone/>
            </a:pPr>
            <a:r>
              <a:rPr lang="en-US" sz="1300" b="1" dirty="0">
                <a:solidFill>
                  <a:srgbClr val="12283F"/>
                </a:solidFill>
                <a:latin typeface="Calibri" pitchFamily="34" charset="0"/>
                <a:ea typeface="Calibri" pitchFamily="34" charset="-122"/>
                <a:cs typeface="Calibri" pitchFamily="34" charset="-120"/>
              </a:rPr>
              <a:t>Protects ecosystems </a:t>
            </a:r>
            <a:pPr indent="0" marL="0">
              <a:spcAft>
                <a:spcPts val="800"/>
              </a:spcAft>
              <a:buNone/>
            </a:pPr>
            <a:r>
              <a:rPr lang="en-US" sz="1300" dirty="0">
                <a:solidFill>
                  <a:srgbClr val="556677"/>
                </a:solidFill>
                <a:latin typeface="Calibri" pitchFamily="34" charset="0"/>
                <a:ea typeface="Calibri" pitchFamily="34" charset="-122"/>
                <a:cs typeface="Calibri" pitchFamily="34" charset="-120"/>
              </a:rPr>
              <a:t>and fishing communities.</a:t>
            </a:r>
            <a:endParaRPr lang="en-US" sz="1300" dirty="0"/>
          </a:p>
          <a:p>
            <a:pPr indent="0" marL="0">
              <a:spcAft>
                <a:spcPts val="800"/>
              </a:spcAft>
              <a:buNone/>
            </a:pPr>
            <a:r>
              <a:rPr lang="en-US" sz="1300" b="1" dirty="0">
                <a:solidFill>
                  <a:srgbClr val="12283F"/>
                </a:solidFill>
                <a:latin typeface="Calibri" pitchFamily="34" charset="0"/>
                <a:ea typeface="Calibri" pitchFamily="34" charset="-122"/>
                <a:cs typeface="Calibri" pitchFamily="34" charset="-120"/>
              </a:rPr>
              <a:t>Safer coasts </a:t>
            </a:r>
            <a:pPr indent="0" marL="0">
              <a:spcAft>
                <a:spcPts val="800"/>
              </a:spcAft>
              <a:buNone/>
            </a:pPr>
            <a:r>
              <a:rPr lang="en-US" sz="1300" dirty="0">
                <a:solidFill>
                  <a:srgbClr val="556677"/>
                </a:solidFill>
                <a:latin typeface="Calibri" pitchFamily="34" charset="0"/>
                <a:ea typeface="Calibri" pitchFamily="34" charset="-122"/>
                <a:cs typeface="Calibri" pitchFamily="34" charset="-120"/>
              </a:rPr>
              <a:t>and less damage to tourism.</a:t>
            </a:r>
            <a:endParaRPr lang="en-US" sz="1300" dirty="0"/>
          </a:p>
          <a:p>
            <a:pPr indent="0" marL="0">
              <a:spcAft>
                <a:spcPts val="800"/>
              </a:spcAft>
              <a:buNone/>
            </a:pPr>
            <a:r>
              <a:rPr lang="en-US" sz="1300" b="1" dirty="0">
                <a:solidFill>
                  <a:srgbClr val="12283F"/>
                </a:solidFill>
                <a:latin typeface="Calibri" pitchFamily="34" charset="0"/>
                <a:ea typeface="Calibri" pitchFamily="34" charset="-122"/>
                <a:cs typeface="Calibri" pitchFamily="34" charset="-120"/>
              </a:rPr>
              <a:t>Lower cleanup costs </a:t>
            </a:r>
            <a:pPr indent="0" marL="0">
              <a:spcAft>
                <a:spcPts val="800"/>
              </a:spcAft>
              <a:buNone/>
            </a:pPr>
            <a:r>
              <a:rPr lang="en-US" sz="1300" dirty="0">
                <a:solidFill>
                  <a:srgbClr val="556677"/>
                </a:solidFill>
                <a:latin typeface="Calibri" pitchFamily="34" charset="0"/>
                <a:ea typeface="Calibri" pitchFamily="34" charset="-122"/>
                <a:cs typeface="Calibri" pitchFamily="34" charset="-120"/>
              </a:rPr>
              <a:t>through earlier containment.</a:t>
            </a:r>
            <a:endParaRPr lang="en-US" sz="1300" dirty="0"/>
          </a:p>
          <a:p>
            <a:pPr indent="0" marL="0">
              <a:spcAft>
                <a:spcPts val="800"/>
              </a:spcAft>
              <a:buNone/>
            </a:pPr>
            <a:r>
              <a:rPr lang="en-US" sz="1300" b="1" dirty="0">
                <a:solidFill>
                  <a:srgbClr val="12283F"/>
                </a:solidFill>
                <a:latin typeface="Calibri" pitchFamily="34" charset="0"/>
                <a:ea typeface="Calibri" pitchFamily="34" charset="-122"/>
                <a:cs typeface="Calibri" pitchFamily="34" charset="-120"/>
              </a:rPr>
              <a:t>Less manual work </a:t>
            </a:r>
            <a:pPr indent="0" marL="0">
              <a:spcAft>
                <a:spcPts val="800"/>
              </a:spcAft>
              <a:buNone/>
            </a:pPr>
            <a:r>
              <a:rPr lang="en-US" sz="1300" dirty="0">
                <a:solidFill>
                  <a:srgbClr val="556677"/>
                </a:solidFill>
                <a:latin typeface="Calibri" pitchFamily="34" charset="0"/>
                <a:ea typeface="Calibri" pitchFamily="34" charset="-122"/>
                <a:cs typeface="Calibri" pitchFamily="34" charset="-120"/>
              </a:rPr>
              <a:t>as analysis is automated.</a:t>
            </a:r>
            <a:endParaRPr lang="en-US" sz="1300" dirty="0"/>
          </a:p>
        </p:txBody>
      </p:sp>
      <p:sp>
        <p:nvSpPr>
          <p:cNvPr id="32" name="Text 24"/>
          <p:cNvSpPr txBox="1"/>
          <p:nvPr/>
        </p:nvSpPr>
        <p:spPr>
          <a:xfrm>
            <a:off x="548640" y="6428232"/>
            <a:ext cx="7315200" cy="274320"/>
          </a:xfrm>
          <a:prstGeom prst="rect">
            <a:avLst/>
          </a:prstGeom>
          <a:noFill/>
          <a:ln/>
        </p:spPr>
        <p:txBody>
          <a:bodyPr wrap="square" lIns="0" tIns="0" rIns="0" bIns="0" rtlCol="0" anchor="ctr"/>
          <a:lstStyle/>
          <a:p>
            <a:pPr indent="0" marL="0">
              <a:buNone/>
            </a:pPr>
            <a:r>
              <a:rPr lang="en-US" sz="1050" dirty="0">
                <a:solidFill>
                  <a:srgbClr val="556677"/>
                </a:solidFill>
                <a:latin typeface="Calibri" pitchFamily="34" charset="0"/>
                <a:ea typeface="Calibri" pitchFamily="34" charset="-122"/>
                <a:cs typeface="Calibri" pitchFamily="34" charset="-120"/>
              </a:rPr>
              <a:t>SMART INDIA HACKATHON 2026   |   SIH26143   |   Team Mindforgue</a:t>
            </a:r>
            <a:endParaRPr lang="en-US" sz="1050" dirty="0"/>
          </a:p>
        </p:txBody>
      </p:sp>
      <p:sp>
        <p:nvSpPr>
          <p:cNvPr id="33" name="Text 25"/>
          <p:cNvSpPr txBox="1"/>
          <p:nvPr/>
        </p:nvSpPr>
        <p:spPr>
          <a:xfrm>
            <a:off x="11094415" y="6428232"/>
            <a:ext cx="548640" cy="274320"/>
          </a:xfrm>
          <a:prstGeom prst="rect">
            <a:avLst/>
          </a:prstGeom>
          <a:noFill/>
          <a:ln/>
        </p:spPr>
        <p:txBody>
          <a:bodyPr wrap="square" lIns="0" tIns="0" rIns="0" bIns="0" rtlCol="0" anchor="ctr"/>
          <a:lstStyle/>
          <a:p>
            <a:pPr algn="r" indent="0" marL="0">
              <a:buNone/>
            </a:pPr>
            <a:r>
              <a:rPr lang="en-US" sz="1050" dirty="0">
                <a:solidFill>
                  <a:srgbClr val="556677"/>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548640" y="347472"/>
            <a:ext cx="82296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Research and References</a:t>
            </a:r>
            <a:endParaRPr lang="en-US" sz="3200" dirty="0"/>
          </a:p>
        </p:txBody>
      </p:sp>
      <p:sp>
        <p:nvSpPr>
          <p:cNvPr id="3" name="Shape 1"/>
          <p:cNvSpPr/>
          <p:nvPr/>
        </p:nvSpPr>
        <p:spPr>
          <a:xfrm>
            <a:off x="9905695" y="274320"/>
            <a:ext cx="1737360" cy="822960"/>
          </a:xfrm>
          <a:prstGeom prst="rect">
            <a:avLst/>
          </a:prstGeom>
          <a:solidFill>
            <a:srgbClr val="FFFFFF"/>
          </a:solidFill>
          <a:ln w="12700">
            <a:solidFill>
              <a:srgbClr val="FFFFFF"/>
            </a:solidFill>
            <a:prstDash val="solid"/>
          </a:ln>
        </p:spPr>
      </p:sp>
      <p:pic>
        <p:nvPicPr>
          <p:cNvPr id="4" name="Image 0" descr="C:/Users/akile/AppData/Local/Temp/claude/c--Users-akile-OneDrive-Desktop-Backend-Engineering-New-folder/8920ce60-01cf-4ad7-8231-4512026fc533/scratchpad/deck/orig/ppt/media/image4.png">    </p:cNvPr>
          <p:cNvPicPr>
            <a:picLocks noChangeAspect="1"/>
          </p:cNvPicPr>
          <p:nvPr/>
        </p:nvPicPr>
        <p:blipFill>
          <a:blip r:embed="rId1"/>
          <a:stretch>
            <a:fillRect/>
          </a:stretch>
        </p:blipFill>
        <p:spPr>
          <a:xfrm>
            <a:off x="9997135" y="320040"/>
            <a:ext cx="1554480" cy="734325"/>
          </a:xfrm>
          <a:prstGeom prst="rect">
            <a:avLst/>
          </a:prstGeom>
        </p:spPr>
      </p:pic>
      <p:sp>
        <p:nvSpPr>
          <p:cNvPr id="5" name="Text 2"/>
          <p:cNvSpPr txBox="1"/>
          <p:nvPr/>
        </p:nvSpPr>
        <p:spPr>
          <a:xfrm>
            <a:off x="548640" y="1600200"/>
            <a:ext cx="658368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EMSA: Oil pollution response</a:t>
            </a:r>
            <a:endParaRPr lang="en-US" sz="1800" dirty="0"/>
          </a:p>
        </p:txBody>
      </p:sp>
      <p:sp>
        <p:nvSpPr>
          <p:cNvPr id="6" name="Text 3">
            <a:hlinkClick r:id="rId2" tooltip="EMSA: Oil pollution response"/>
          </p:cNvPr>
          <p:cNvSpPr txBox="1"/>
          <p:nvPr/>
        </p:nvSpPr>
        <p:spPr>
          <a:xfrm>
            <a:off x="548640" y="1984248"/>
            <a:ext cx="6583680" cy="502920"/>
          </a:xfrm>
          <a:prstGeom prst="rect">
            <a:avLst/>
          </a:prstGeom>
          <a:noFill/>
          <a:ln/>
        </p:spPr>
        <p:txBody>
          <a:bodyPr wrap="square" lIns="0" tIns="0" rIns="0" bIns="0" rtlCol="0" anchor="t"/>
          <a:lstStyle/>
          <a:p>
            <a:pPr indent="0" marL="0">
              <a:buNone/>
            </a:pPr>
            <a:r>
              <a:rPr lang="en-US" sz="1250" u="sng" dirty="0">
                <a:solidFill>
                  <a:srgbClr val="2DD4BF"/>
                </a:solidFill>
                <a:latin typeface="Calibri" pitchFamily="34" charset="0"/>
                <a:ea typeface="Calibri" pitchFamily="34" charset="-122"/>
                <a:cs typeface="Calibri" pitchFamily="34" charset="-120"/>
                <a:hlinkClick r:id="rId2" invalidUrl="" action="" tgtFrame="" tooltip="EMSA: Oil pollution response" history="1" highlightClick="0" endSnd="0">
                  <a:extLst>
                    <a:ext uri="{A12FA001-AC4F-418D-AE19-62706E023703}">
                      <ahyp:hlinkClr xmlns:ahyp="http://schemas.microsoft.com/office/drawing/2018/hyperlinkcolor" val="tx"/>
                    </a:ext>
                  </a:extLst>
                </a:hlinkClick>
              </a:rPr>
              <a:t>https://emsa.europa.eu/protecting-the-marine-environment/oil-pullution-response.html</a:t>
            </a:r>
            <a:endParaRPr lang="en-US" sz="1250" dirty="0"/>
          </a:p>
        </p:txBody>
      </p:sp>
      <p:sp>
        <p:nvSpPr>
          <p:cNvPr id="7" name="Text 4"/>
          <p:cNvSpPr txBox="1"/>
          <p:nvPr/>
        </p:nvSpPr>
        <p:spPr>
          <a:xfrm>
            <a:off x="548640" y="2715768"/>
            <a:ext cx="658368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EMSA: CleanSeaNet detections and feedback data</a:t>
            </a:r>
            <a:endParaRPr lang="en-US" sz="1800" dirty="0"/>
          </a:p>
        </p:txBody>
      </p:sp>
      <p:sp>
        <p:nvSpPr>
          <p:cNvPr id="8" name="Text 5">
            <a:hlinkClick r:id="rId3" tooltip="EMSA: CleanSeaNet detections and feedback data"/>
          </p:cNvPr>
          <p:cNvSpPr txBox="1"/>
          <p:nvPr/>
        </p:nvSpPr>
        <p:spPr>
          <a:xfrm>
            <a:off x="548640" y="3099816"/>
            <a:ext cx="6583680" cy="502920"/>
          </a:xfrm>
          <a:prstGeom prst="rect">
            <a:avLst/>
          </a:prstGeom>
          <a:noFill/>
          <a:ln/>
        </p:spPr>
        <p:txBody>
          <a:bodyPr wrap="square" lIns="0" tIns="0" rIns="0" bIns="0" rtlCol="0" anchor="t"/>
          <a:lstStyle/>
          <a:p>
            <a:pPr indent="0" marL="0">
              <a:buNone/>
            </a:pPr>
            <a:r>
              <a:rPr lang="en-US" sz="1250" u="sng" dirty="0">
                <a:solidFill>
                  <a:srgbClr val="2DD4BF"/>
                </a:solidFill>
                <a:latin typeface="Calibri" pitchFamily="34" charset="0"/>
                <a:ea typeface="Calibri" pitchFamily="34" charset="-122"/>
                <a:cs typeface="Calibri" pitchFamily="34" charset="-120"/>
                <a:hlinkClick r:id="rId3" invalidUrl="" action="" tgtFrame="" tooltip="EMSA: CleanSeaNet detections and feedback data" history="1" highlightClick="0" endSnd="0">
                  <a:extLst>
                    <a:ext uri="{A12FA001-AC4F-418D-AE19-62706E023703}">
                      <ahyp:hlinkClr xmlns:ahyp="http://schemas.microsoft.com/office/drawing/2018/hyperlinkcolor" val="tx"/>
                    </a:ext>
                  </a:extLst>
                </a:hlinkClick>
              </a:rPr>
              <a:t>https://www.emsa.europa.eu/we-do/surveillance/earthobservationservices/item/4645-cleanseanet-detections-and-feedback-data.html</a:t>
            </a:r>
            <a:endParaRPr lang="en-US" sz="1250" dirty="0"/>
          </a:p>
        </p:txBody>
      </p:sp>
      <p:sp>
        <p:nvSpPr>
          <p:cNvPr id="9" name="Text 6"/>
          <p:cNvSpPr txBox="1"/>
          <p:nvPr/>
        </p:nvSpPr>
        <p:spPr>
          <a:xfrm>
            <a:off x="548640" y="3831336"/>
            <a:ext cx="658368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IMO: Pollution response</a:t>
            </a:r>
            <a:endParaRPr lang="en-US" sz="1800" dirty="0"/>
          </a:p>
        </p:txBody>
      </p:sp>
      <p:sp>
        <p:nvSpPr>
          <p:cNvPr id="10" name="Text 7">
            <a:hlinkClick r:id="rId4" tooltip="IMO: Pollution response"/>
          </p:cNvPr>
          <p:cNvSpPr txBox="1"/>
          <p:nvPr/>
        </p:nvSpPr>
        <p:spPr>
          <a:xfrm>
            <a:off x="548640" y="4215384"/>
            <a:ext cx="6583680" cy="502920"/>
          </a:xfrm>
          <a:prstGeom prst="rect">
            <a:avLst/>
          </a:prstGeom>
          <a:noFill/>
          <a:ln/>
        </p:spPr>
        <p:txBody>
          <a:bodyPr wrap="square" lIns="0" tIns="0" rIns="0" bIns="0" rtlCol="0" anchor="t"/>
          <a:lstStyle/>
          <a:p>
            <a:pPr indent="0" marL="0">
              <a:buNone/>
            </a:pPr>
            <a:r>
              <a:rPr lang="en-US" sz="1250" u="sng" dirty="0">
                <a:solidFill>
                  <a:srgbClr val="2DD4BF"/>
                </a:solidFill>
                <a:latin typeface="Calibri" pitchFamily="34" charset="0"/>
                <a:ea typeface="Calibri" pitchFamily="34" charset="-122"/>
                <a:cs typeface="Calibri" pitchFamily="34" charset="-120"/>
                <a:hlinkClick r:id="rId4" invalidUrl="" action="" tgtFrame="" tooltip="IMO: Pollution response" history="1" highlightClick="0" endSnd="0">
                  <a:extLst>
                    <a:ext uri="{A12FA001-AC4F-418D-AE19-62706E023703}">
                      <ahyp:hlinkClr xmlns:ahyp="http://schemas.microsoft.com/office/drawing/2018/hyperlinkcolor" val="tx"/>
                    </a:ext>
                  </a:extLst>
                </a:hlinkClick>
              </a:rPr>
              <a:t>https://www.imo.org/en/ourwork/environment/pages/pollution-response.aspx</a:t>
            </a:r>
            <a:endParaRPr lang="en-US" sz="1250" dirty="0"/>
          </a:p>
        </p:txBody>
      </p:sp>
      <p:sp>
        <p:nvSpPr>
          <p:cNvPr id="11" name="Text 8"/>
          <p:cNvSpPr txBox="1"/>
          <p:nvPr/>
        </p:nvSpPr>
        <p:spPr>
          <a:xfrm>
            <a:off x="548640" y="4946904"/>
            <a:ext cx="6583680" cy="32918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IMO: Oil spill response</a:t>
            </a:r>
            <a:endParaRPr lang="en-US" sz="1800" dirty="0"/>
          </a:p>
        </p:txBody>
      </p:sp>
      <p:sp>
        <p:nvSpPr>
          <p:cNvPr id="12" name="Text 9">
            <a:hlinkClick r:id="rId5" tooltip="IMO: Oil spill response"/>
          </p:cNvPr>
          <p:cNvSpPr txBox="1"/>
          <p:nvPr/>
        </p:nvSpPr>
        <p:spPr>
          <a:xfrm>
            <a:off x="548640" y="5330952"/>
            <a:ext cx="6583680" cy="502920"/>
          </a:xfrm>
          <a:prstGeom prst="rect">
            <a:avLst/>
          </a:prstGeom>
          <a:noFill/>
          <a:ln/>
        </p:spPr>
        <p:txBody>
          <a:bodyPr wrap="square" lIns="0" tIns="0" rIns="0" bIns="0" rtlCol="0" anchor="t"/>
          <a:lstStyle/>
          <a:p>
            <a:pPr indent="0" marL="0">
              <a:buNone/>
            </a:pPr>
            <a:r>
              <a:rPr lang="en-US" sz="1250" u="sng" dirty="0">
                <a:solidFill>
                  <a:srgbClr val="2DD4BF"/>
                </a:solidFill>
                <a:latin typeface="Calibri" pitchFamily="34" charset="0"/>
                <a:ea typeface="Calibri" pitchFamily="34" charset="-122"/>
                <a:cs typeface="Calibri" pitchFamily="34" charset="-120"/>
                <a:hlinkClick r:id="rId5" invalidUrl="" action="" tgtFrame="" tooltip="IMO: Oil spill response" history="1" highlightClick="0" endSnd="0">
                  <a:extLst>
                    <a:ext uri="{A12FA001-AC4F-418D-AE19-62706E023703}">
                      <ahyp:hlinkClr xmlns:ahyp="http://schemas.microsoft.com/office/drawing/2018/hyperlinkcolor" val="tx"/>
                    </a:ext>
                  </a:extLst>
                </a:hlinkClick>
              </a:rPr>
              <a:t>https://www.imo.org/en/ourwork/environment/pages/oil-spill-response.aspx</a:t>
            </a:r>
            <a:endParaRPr lang="en-US" sz="1250" dirty="0"/>
          </a:p>
        </p:txBody>
      </p:sp>
      <p:sp>
        <p:nvSpPr>
          <p:cNvPr id="13" name="Text 10"/>
          <p:cNvSpPr txBox="1"/>
          <p:nvPr/>
        </p:nvSpPr>
        <p:spPr>
          <a:xfrm>
            <a:off x="7772400" y="1463040"/>
            <a:ext cx="3840480" cy="274320"/>
          </a:xfrm>
          <a:prstGeom prst="rect">
            <a:avLst/>
          </a:prstGeom>
          <a:noFill/>
          <a:ln/>
        </p:spPr>
        <p:txBody>
          <a:bodyPr wrap="square" lIns="0" tIns="0" rIns="0" bIns="0" rtlCol="0" anchor="ctr"/>
          <a:lstStyle/>
          <a:p>
            <a:pPr indent="0" marL="0">
              <a:buNone/>
            </a:pPr>
            <a:r>
              <a:rPr lang="en-US" sz="1200" b="1" spc="200" kern="0" dirty="0">
                <a:solidFill>
                  <a:srgbClr val="2DD4BF"/>
                </a:solidFill>
                <a:latin typeface="Calibri" pitchFamily="34" charset="0"/>
                <a:ea typeface="Calibri" pitchFamily="34" charset="-122"/>
                <a:cs typeface="Calibri" pitchFamily="34" charset="-120"/>
              </a:rPr>
              <a:t>SEE IT RUNNING</a:t>
            </a:r>
            <a:endParaRPr lang="en-US" sz="1200" dirty="0"/>
          </a:p>
        </p:txBody>
      </p:sp>
      <p:sp>
        <p:nvSpPr>
          <p:cNvPr id="14" name="Shape 11"/>
          <p:cNvSpPr/>
          <p:nvPr/>
        </p:nvSpPr>
        <p:spPr>
          <a:xfrm>
            <a:off x="7772400" y="1828800"/>
            <a:ext cx="1600200" cy="1600200"/>
          </a:xfrm>
          <a:prstGeom prst="rect">
            <a:avLst/>
          </a:prstGeom>
          <a:solidFill>
            <a:srgbClr val="FFFFFF"/>
          </a:solidFill>
          <a:ln w="12700">
            <a:solidFill>
              <a:srgbClr val="FFFFFF"/>
            </a:solidFill>
            <a:prstDash val="solid"/>
          </a:ln>
        </p:spPr>
      </p:sp>
      <p:pic>
        <p:nvPicPr>
          <p:cNvPr id="15" name="Image 1" descr="C:/Users/akile/AppData/Local/Temp/claude/c--Users-akile-OneDrive-Desktop-Backend-Engineering-New-folder/8920ce60-01cf-4ad7-8231-4512026fc533/scratchpad/deck/qr_proto.png">    </p:cNvPr>
          <p:cNvPicPr>
            <a:picLocks noChangeAspect="1"/>
          </p:cNvPicPr>
          <p:nvPr/>
        </p:nvPicPr>
        <p:blipFill>
          <a:blip r:embed="rId6"/>
          <a:stretch>
            <a:fillRect/>
          </a:stretch>
        </p:blipFill>
        <p:spPr>
          <a:xfrm>
            <a:off x="7863840" y="1920240"/>
            <a:ext cx="1417320" cy="1417320"/>
          </a:xfrm>
          <a:prstGeom prst="rect">
            <a:avLst/>
          </a:prstGeom>
        </p:spPr>
      </p:pic>
      <p:sp>
        <p:nvSpPr>
          <p:cNvPr id="16" name="Text 12"/>
          <p:cNvSpPr txBox="1"/>
          <p:nvPr/>
        </p:nvSpPr>
        <p:spPr>
          <a:xfrm>
            <a:off x="7772400" y="3520440"/>
            <a:ext cx="1600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Live prototype</a:t>
            </a:r>
            <a:endParaRPr lang="en-US" sz="1300" dirty="0"/>
          </a:p>
        </p:txBody>
      </p:sp>
      <p:sp>
        <p:nvSpPr>
          <p:cNvPr id="17" name="Shape 13"/>
          <p:cNvSpPr/>
          <p:nvPr/>
        </p:nvSpPr>
        <p:spPr>
          <a:xfrm>
            <a:off x="9692640" y="1828800"/>
            <a:ext cx="1600200" cy="1600200"/>
          </a:xfrm>
          <a:prstGeom prst="rect">
            <a:avLst/>
          </a:prstGeom>
          <a:solidFill>
            <a:srgbClr val="FFFFFF"/>
          </a:solidFill>
          <a:ln w="12700">
            <a:solidFill>
              <a:srgbClr val="FFFFFF"/>
            </a:solidFill>
            <a:prstDash val="solid"/>
          </a:ln>
        </p:spPr>
      </p:sp>
      <p:pic>
        <p:nvPicPr>
          <p:cNvPr id="18" name="Image 2" descr="C:/Users/akile/AppData/Local/Temp/claude/c--Users-akile-OneDrive-Desktop-Backend-Engineering-New-folder/8920ce60-01cf-4ad7-8231-4512026fc533/scratchpad/deck/qr_repo.png">    </p:cNvPr>
          <p:cNvPicPr>
            <a:picLocks noChangeAspect="1"/>
          </p:cNvPicPr>
          <p:nvPr/>
        </p:nvPicPr>
        <p:blipFill>
          <a:blip r:embed="rId7"/>
          <a:stretch>
            <a:fillRect/>
          </a:stretch>
        </p:blipFill>
        <p:spPr>
          <a:xfrm>
            <a:off x="9784080" y="1920240"/>
            <a:ext cx="1417320" cy="1417320"/>
          </a:xfrm>
          <a:prstGeom prst="rect">
            <a:avLst/>
          </a:prstGeom>
        </p:spPr>
      </p:pic>
      <p:sp>
        <p:nvSpPr>
          <p:cNvPr id="19" name="Text 14"/>
          <p:cNvSpPr txBox="1"/>
          <p:nvPr/>
        </p:nvSpPr>
        <p:spPr>
          <a:xfrm>
            <a:off x="9692640" y="3520440"/>
            <a:ext cx="16002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Source code</a:t>
            </a:r>
            <a:endParaRPr lang="en-US" sz="1300" dirty="0"/>
          </a:p>
        </p:txBody>
      </p:sp>
      <p:sp>
        <p:nvSpPr>
          <p:cNvPr id="20" name="Text 15"/>
          <p:cNvSpPr txBox="1"/>
          <p:nvPr/>
        </p:nvSpPr>
        <p:spPr>
          <a:xfrm>
            <a:off x="7772400" y="4206240"/>
            <a:ext cx="3840480" cy="1005840"/>
          </a:xfrm>
          <a:prstGeom prst="rect">
            <a:avLst/>
          </a:prstGeom>
          <a:noFill/>
          <a:ln/>
        </p:spPr>
        <p:txBody>
          <a:bodyPr wrap="square" lIns="0" tIns="0" rIns="0" bIns="0" rtlCol="0" anchor="t"/>
          <a:lstStyle/>
          <a:p>
            <a:pPr indent="0" marL="0">
              <a:buNone/>
            </a:pPr>
            <a:r>
              <a:rPr lang="en-US" sz="1300" dirty="0">
                <a:solidFill>
                  <a:srgbClr val="C7D3DE"/>
                </a:solidFill>
                <a:latin typeface="Calibri" pitchFamily="34" charset="0"/>
                <a:ea typeface="Calibri" pitchFamily="34" charset="-122"/>
                <a:cs typeface="Calibri" pitchFamily="34" charset="-120"/>
              </a:rPr>
              <a:t>The prototype uses synthetic vessels and sample data. No real vessel is named or implicated, and scores support investigation only.</a:t>
            </a:r>
            <a:endParaRPr lang="en-US" sz="1300" dirty="0"/>
          </a:p>
        </p:txBody>
      </p:sp>
      <p:sp>
        <p:nvSpPr>
          <p:cNvPr id="21" name="Text 16"/>
          <p:cNvSpPr txBox="1"/>
          <p:nvPr/>
        </p:nvSpPr>
        <p:spPr>
          <a:xfrm>
            <a:off x="548640" y="6428232"/>
            <a:ext cx="7315200" cy="274320"/>
          </a:xfrm>
          <a:prstGeom prst="rect">
            <a:avLst/>
          </a:prstGeom>
          <a:noFill/>
          <a:ln/>
        </p:spPr>
        <p:txBody>
          <a:bodyPr wrap="square" lIns="0" tIns="0" rIns="0" bIns="0" rtlCol="0" anchor="ctr"/>
          <a:lstStyle/>
          <a:p>
            <a:pPr indent="0" marL="0">
              <a:buNone/>
            </a:pPr>
            <a:r>
              <a:rPr lang="en-US" sz="1050" dirty="0">
                <a:solidFill>
                  <a:srgbClr val="C7D3DE"/>
                </a:solidFill>
                <a:latin typeface="Calibri" pitchFamily="34" charset="0"/>
                <a:ea typeface="Calibri" pitchFamily="34" charset="-122"/>
                <a:cs typeface="Calibri" pitchFamily="34" charset="-120"/>
              </a:rPr>
              <a:t>SMART INDIA HACKATHON 2026   |   SIH26143   |   Team Mindforgue</a:t>
            </a:r>
            <a:endParaRPr lang="en-US" sz="1050" dirty="0"/>
          </a:p>
        </p:txBody>
      </p:sp>
      <p:sp>
        <p:nvSpPr>
          <p:cNvPr id="22" name="Text 17"/>
          <p:cNvSpPr txBox="1"/>
          <p:nvPr/>
        </p:nvSpPr>
        <p:spPr>
          <a:xfrm>
            <a:off x="11094415" y="6428232"/>
            <a:ext cx="548640" cy="274320"/>
          </a:xfrm>
          <a:prstGeom prst="rect">
            <a:avLst/>
          </a:prstGeom>
          <a:noFill/>
          <a:ln/>
        </p:spPr>
        <p:txBody>
          <a:bodyPr wrap="square" lIns="0" tIns="0" rIns="0" bIns="0" rtlCol="0" anchor="ctr"/>
          <a:lstStyle/>
          <a:p>
            <a:pPr algn="r" indent="0" marL="0">
              <a:buNone/>
            </a:pPr>
            <a:r>
              <a:rPr lang="en-US" sz="1050" dirty="0">
                <a:solidFill>
                  <a:srgbClr val="C7D3DE"/>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OilWatch: AI-Based Oil Spill &amp; Vessel Detection (SIH26143)</dc:title>
  <dc:subject>PptxGenJS Presentation</dc:subject>
  <dc:creator>Team Mindforgue</dc:creator>
  <cp:lastModifiedBy>Team Mindforgue</cp:lastModifiedBy>
  <cp:revision>1</cp:revision>
  <dcterms:created xsi:type="dcterms:W3CDTF">2026-09-20T07:30:57Z</dcterms:created>
  <dcterms:modified xsi:type="dcterms:W3CDTF">2026-09-20T07:30:57Z</dcterms:modified>
</cp:coreProperties>
</file>